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Sales Scale</c:v>
                </c:pt>
              </c:strCache>
            </c:strRef>
          </c:tx>
          <c:spPr>
            <a:solidFill>
              <a:srgbClr val="059669"/>
            </a:solidFill>
            <a:effectLst/>
          </c:spPr>
          <c:invertIfNegative val="0"/>
          <c:cat>
            <c:strRef>
              <c:f>Sheet1!$A$2:$A$7</c:f>
              <c:strCache>
                <c:ptCount val="6"/>
                <c:pt idx="0">
                  <c:v>Health &amp; Beauty</c:v>
                </c:pt>
                <c:pt idx="1">
                  <c:v>Home &amp; Lifestyle</c:v>
                </c:pt>
                <c:pt idx="2">
                  <c:v>Fashion Accessories</c:v>
                </c:pt>
                <c:pt idx="3">
                  <c:v>Electronic Accessories</c:v>
                </c:pt>
                <c:pt idx="4">
                  <c:v>Sports &amp; Travel</c:v>
                </c:pt>
                <c:pt idx="5">
                  <c:v>Food &amp; Beverages</c:v>
                </c:pt>
              </c:strCache>
            </c:strRef>
          </c:cat>
          <c:val>
            <c:numRef>
              <c:f>Sheet1!$B$2:$B$7</c:f>
              <c:numCache>
                <c:formatCode>General</c:formatCode>
                <c:ptCount val="6"/>
                <c:pt idx="0">
                  <c:v>70</c:v>
                </c:pt>
                <c:pt idx="1">
                  <c:v>75</c:v>
                </c:pt>
                <c:pt idx="2">
                  <c:v>82</c:v>
                </c:pt>
                <c:pt idx="3">
                  <c:v>85</c:v>
                </c:pt>
                <c:pt idx="4">
                  <c:v>94</c:v>
                </c:pt>
                <c:pt idx="5">
                  <c:v>100</c:v>
                </c:pt>
              </c:numCache>
            </c:numRef>
          </c:val>
          <c:extLst>
            <c:ext xmlns:c16="http://schemas.microsoft.com/office/drawing/2014/chart" uri="{C3380CC4-5D6E-409C-BE32-E72D297353CC}">
              <c16:uniqueId val="{00000000-EE4B-493C-8DDC-0CDB5D84260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Sales</c:v>
                </c:pt>
              </c:strCache>
            </c:strRef>
          </c:tx>
          <c:spPr>
            <a:ln w="25400" cap="flat">
              <a:solidFill>
                <a:srgbClr val="059669"/>
              </a:solidFill>
              <a:prstDash val="solid"/>
              <a:round/>
            </a:ln>
            <a:effectLst/>
          </c:spPr>
          <c:marker>
            <c:symbol val="circle"/>
            <c:size val="8"/>
            <c:spPr>
              <a:solidFill>
                <a:srgbClr val="059669"/>
              </a:solidFill>
              <a:ln w="9525" cap="flat">
                <a:solidFill>
                  <a:srgbClr val="059669"/>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January (Peak)</c:v>
                </c:pt>
                <c:pt idx="1">
                  <c:v>February (Lowest)</c:v>
                </c:pt>
                <c:pt idx="2">
                  <c:v>March (*Verified Baseline)</c:v>
                </c:pt>
              </c:strCache>
            </c:strRef>
          </c:cat>
          <c:val>
            <c:numRef>
              <c:f>Sheet1!$B$2:$B$4</c:f>
              <c:numCache>
                <c:formatCode>General</c:formatCode>
                <c:ptCount val="3"/>
                <c:pt idx="0">
                  <c:v>116291.87</c:v>
                </c:pt>
                <c:pt idx="1">
                  <c:v>97219.37</c:v>
                </c:pt>
                <c:pt idx="2">
                  <c:v>109455.51</c:v>
                </c:pt>
              </c:numCache>
            </c:numRef>
          </c:val>
          <c:smooth val="0"/>
          <c:extLst>
            <c:ext xmlns:c16="http://schemas.microsoft.com/office/drawing/2014/chart" uri="{C3380CC4-5D6E-409C-BE32-E72D297353CC}">
              <c16:uniqueId val="{00000000-5DD1-45BE-B66D-E2423DAC0763}"/>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 Volume</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5118-4BDE-80E7-E28DD15B14C1}"/>
              </c:ext>
            </c:extLst>
          </c:dPt>
          <c:dPt>
            <c:idx val="1"/>
            <c:invertIfNegative val="0"/>
            <c:bubble3D val="0"/>
            <c:spPr>
              <a:solidFill>
                <a:srgbClr val="059669"/>
              </a:solidFill>
              <a:effectLst/>
            </c:spPr>
            <c:extLst>
              <c:ext xmlns:c16="http://schemas.microsoft.com/office/drawing/2014/chart" uri="{C3380CC4-5D6E-409C-BE32-E72D297353CC}">
                <c16:uniqueId val="{00000003-5118-4BDE-80E7-E28DD15B14C1}"/>
              </c:ext>
            </c:extLst>
          </c:dPt>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Morning Sales</c:v>
                </c:pt>
                <c:pt idx="1">
                  <c:v>Evening Sales</c:v>
                </c:pt>
              </c:strCache>
            </c:strRef>
          </c:cat>
          <c:val>
            <c:numRef>
              <c:f>Sheet1!$B$2:$B$3</c:f>
              <c:numCache>
                <c:formatCode>General</c:formatCode>
                <c:ptCount val="2"/>
                <c:pt idx="0">
                  <c:v>31421.48</c:v>
                </c:pt>
                <c:pt idx="1">
                  <c:v>113144.6</c:v>
                </c:pt>
              </c:numCache>
            </c:numRef>
          </c:val>
          <c:extLst>
            <c:ext xmlns:c16="http://schemas.microsoft.com/office/drawing/2014/chart" uri="{C3380CC4-5D6E-409C-BE32-E72D297353CC}">
              <c16:uniqueId val="{00000004-5118-4BDE-80E7-E28DD15B14C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39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Welcome to the presentation of MARKETPULSE, an end-to-end retail sales analytics project built using Microsoft Excel. Over the next few minutes, I will walk you through our empirical findings across product lines, branch performance, customer demographics, and payment behavior, concluding with actionable, prioritized business recommendations for executive leadership.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establishes the core business motivation. Modern supermarkets operate in high-velocity, low-margin environments. Our objective was to leverage Microsoft Excel as a full-cycle business intelligence tool—from data cleaning and pivot modeling to KPI synthesis—to uncover where sales leakages occur and where inventory or marketing efforts yield the highest returns.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3, we detail the 8 fundamental dimensions analyzed. Notice the clean scope: 3 branch cities, 6 standardized product categories, verified transaction timestamps, customer classification, and payment rails. We strictly adhere to empirical numbers verified in the source file, maintaining clear analytical rigor without making unsubstantiated assumptions.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on Slide 4 is our Executive Summary card matrix. Five verified metrics stand out: Food and Beverages is the volume and revenue engine; Naypyitaw leads branch sales at 110,568.71; January peaked at 116,291.87 before a drop in February to 97,219.37; and evening traffic heavily dominates morning sales with 113,144.60.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breaks down product category performance. Food &amp; Beverages takes first rank, closely followed by Sports &amp; Travel. This category disparity emphasizes why store managers cannot apply uniform reordering cycles. Fast-moving staples require dedicated shelf share, while discretionary lines require promotional velocity.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geographic comparison on Slide 6: Naypyitaw generated 110,568.71 versus Mandalay at 106,197.67, identifying Mandalay as the lower-sales location of the two. In Mandalay, Food &amp; Beverages and Fashion Accessories show underperformance. Concurrently, Branch C exhibits its lowest category sales in Home &amp; Lifestyle.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compares payment types: E-Wallets processed 345 transactions totaling 109,993.11, outpacing Credit Cards at 311 transactions and 100,767.07. As analysts, we note that payment method preference is descriptive—it does not imply payment choice inherently causes larger basket sizes, but rather indicates shopper friction points.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illustrates month-over-month trajectory: January was strong at 116,291.87, followed by a sharp drop in February to 97,219.37, before rebounding in March. Notably, Electronic Accessories experienced significant contraction in February. We recommend isolating price elasticity, supply stockouts, and promotional gaps before attributing causality.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highlights the stark operational divide: Morning sales yielded 31,421.48 compared to 113,144.60 in the evening—more than 3.6x greater revenue in evening hours. Rather than accepting low morning revenue as static, supermarkets can pilot early-bird breakfast bundles and optimize morning staffing.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behavioral segmentation: Members show a higher propensity for credit card settlement, whereas Normal walk-in customers favor cash. Male members represent a smaller cohort than female members. Additionally, female purchases in Health &amp; Beauty contracted notably in March.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addresses a unique branch anomaly: Yangon exhibits reported lower evening sales compared to its peer branches. This slide establishes a structured diagnostics workflow—analyzing evening footfall, inventory stockouts during rush hours, commuter traffic patterns, and targeted evening campaign tests.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12, we transition from diagnosis to execution. We have structured 7 high-priority interventions across Mandalay, February recovery, Normal customer conversion, morning activation, Branch C merchandising, March Health &amp; Beauty stabilization, and Yangon evening campaigns—each tied to measurable KPIs.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organizes our recommendations into a clean 3-phase roadmap: Phase 1 validates root causes without capital commitments; Phase 2 runs controlled A/B promotional and inventory pilots; Phase 3 measures KPI lift and scales verified store playbooks across all branches.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wraps up the core strategic takeaways. Microsoft Excel provided the analytical backbone to turn raw transactional records into transparent business intelligence. By focusing on empirical evidence, supermarket leadership can minimize inventory waste and maximize customer lifetime value.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engagement. I welcome questions on our methodology, pivot data models, statistical boundaries, or implementation steps.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0E"/>
        </a:solidFill>
        <a:effectLst/>
      </p:bgPr>
    </p:bg>
    <p:spTree>
      <p:nvGrpSpPr>
        <p:cNvPr id="1" name=""/>
        <p:cNvGrpSpPr/>
        <p:nvPr/>
      </p:nvGrpSpPr>
      <p:grpSpPr>
        <a:xfrm>
          <a:off x="0" y="0"/>
          <a:ext cx="0" cy="0"/>
          <a:chOff x="0" y="0"/>
          <a:chExt cx="0" cy="0"/>
        </a:xfrm>
      </p:grpSpPr>
      <p:sp>
        <p:nvSpPr>
          <p:cNvPr id="2" name="Shape 0"/>
          <p:cNvSpPr/>
          <p:nvPr/>
        </p:nvSpPr>
        <p:spPr>
          <a:xfrm>
            <a:off x="685800" y="548640"/>
            <a:ext cx="10698480" cy="5760720"/>
          </a:xfrm>
          <a:prstGeom prst="rect">
            <a:avLst/>
          </a:prstGeom>
          <a:solidFill>
            <a:srgbClr val="051F14"/>
          </a:solidFill>
          <a:ln w="12700">
            <a:solidFill>
              <a:srgbClr val="10B981"/>
            </a:solidFill>
            <a:prstDash val="solid"/>
          </a:ln>
        </p:spPr>
      </p:sp>
      <p:sp>
        <p:nvSpPr>
          <p:cNvPr id="3" name="Text 1"/>
          <p:cNvSpPr/>
          <p:nvPr/>
        </p:nvSpPr>
        <p:spPr>
          <a:xfrm>
            <a:off x="1097280" y="1005840"/>
            <a:ext cx="9601200" cy="274320"/>
          </a:xfrm>
          <a:prstGeom prst="rect">
            <a:avLst/>
          </a:prstGeom>
          <a:noFill/>
          <a:ln/>
        </p:spPr>
        <p:txBody>
          <a:bodyPr wrap="square" rtlCol="0" anchor="ctr"/>
          <a:lstStyle/>
          <a:p>
            <a:pPr marL="0" indent="0">
              <a:buNone/>
            </a:pPr>
            <a:r>
              <a:rPr lang="en-US" sz="1100" b="1" dirty="0">
                <a:solidFill>
                  <a:srgbClr val="10B981"/>
                </a:solidFill>
                <a:latin typeface="Arial" pitchFamily="34" charset="0"/>
                <a:ea typeface="Arial" pitchFamily="34" charset="-122"/>
                <a:cs typeface="Arial" pitchFamily="34" charset="-120"/>
              </a:rPr>
              <a:t>RETAIL DATA ANALYTICS &amp; BUSINESS INTELLIGENCE</a:t>
            </a:r>
            <a:endParaRPr lang="en-US" sz="1100" dirty="0"/>
          </a:p>
        </p:txBody>
      </p:sp>
      <p:sp>
        <p:nvSpPr>
          <p:cNvPr id="4" name="Text 2"/>
          <p:cNvSpPr/>
          <p:nvPr/>
        </p:nvSpPr>
        <p:spPr>
          <a:xfrm>
            <a:off x="1097280" y="1371600"/>
            <a:ext cx="9601200" cy="1005840"/>
          </a:xfrm>
          <a:prstGeom prst="rect">
            <a:avLst/>
          </a:prstGeom>
          <a:noFill/>
          <a:ln/>
        </p:spPr>
        <p:txBody>
          <a:bodyPr wrap="square" rtlCol="0" anchor="ctr"/>
          <a:lstStyle/>
          <a:p>
            <a:pPr marL="0" indent="0">
              <a:buNone/>
            </a:pPr>
            <a:r>
              <a:rPr lang="en-US" sz="4800" b="1" dirty="0">
                <a:solidFill>
                  <a:srgbClr val="FFFFFF"/>
                </a:solidFill>
                <a:latin typeface="Arial" pitchFamily="34" charset="0"/>
                <a:ea typeface="Arial" pitchFamily="34" charset="-122"/>
                <a:cs typeface="Arial" pitchFamily="34" charset="-120"/>
              </a:rPr>
              <a:t>MARKETPULSE</a:t>
            </a:r>
            <a:endParaRPr lang="en-US" sz="4800" dirty="0"/>
          </a:p>
        </p:txBody>
      </p:sp>
      <p:sp>
        <p:nvSpPr>
          <p:cNvPr id="5" name="Text 3"/>
          <p:cNvSpPr/>
          <p:nvPr/>
        </p:nvSpPr>
        <p:spPr>
          <a:xfrm>
            <a:off x="1097280" y="2423160"/>
            <a:ext cx="9601200" cy="457200"/>
          </a:xfrm>
          <a:prstGeom prst="rect">
            <a:avLst/>
          </a:prstGeom>
          <a:noFill/>
          <a:ln/>
        </p:spPr>
        <p:txBody>
          <a:bodyPr wrap="square" rtlCol="0" anchor="ctr"/>
          <a:lstStyle/>
          <a:p>
            <a:pPr marL="0" indent="0">
              <a:buNone/>
            </a:pPr>
            <a:r>
              <a:rPr lang="en-US" sz="2000" dirty="0">
                <a:solidFill>
                  <a:srgbClr val="A7F3D0"/>
                </a:solidFill>
                <a:latin typeface="Arial" pitchFamily="34" charset="0"/>
                <a:ea typeface="Arial" pitchFamily="34" charset="-122"/>
                <a:cs typeface="Arial" pitchFamily="34" charset="-120"/>
              </a:rPr>
              <a:t>Supermarket Sales &amp; Business Intelligence</a:t>
            </a:r>
            <a:endParaRPr lang="en-US" sz="2000" dirty="0"/>
          </a:p>
        </p:txBody>
      </p:sp>
      <p:sp>
        <p:nvSpPr>
          <p:cNvPr id="6" name="Text 4"/>
          <p:cNvSpPr/>
          <p:nvPr/>
        </p:nvSpPr>
        <p:spPr>
          <a:xfrm>
            <a:off x="1097280" y="2926080"/>
            <a:ext cx="9601200" cy="365760"/>
          </a:xfrm>
          <a:prstGeom prst="rect">
            <a:avLst/>
          </a:prstGeom>
          <a:noFill/>
          <a:ln/>
        </p:spPr>
        <p:txBody>
          <a:bodyPr wrap="square" rtlCol="0" anchor="ctr"/>
          <a:lstStyle/>
          <a:p>
            <a:pPr marL="0" indent="0">
              <a:buNone/>
            </a:pPr>
            <a:r>
              <a:rPr lang="en-US" sz="1400" i="1" dirty="0">
                <a:solidFill>
                  <a:srgbClr val="E2E8F0"/>
                </a:solidFill>
                <a:latin typeface="Arial" pitchFamily="34" charset="0"/>
                <a:ea typeface="Arial" pitchFamily="34" charset="-122"/>
                <a:cs typeface="Arial" pitchFamily="34" charset="-120"/>
              </a:rPr>
              <a:t>Turning Retail Data into Actionable Insights</a:t>
            </a:r>
            <a:endParaRPr lang="en-US" sz="1400" dirty="0"/>
          </a:p>
        </p:txBody>
      </p:sp>
      <p:sp>
        <p:nvSpPr>
          <p:cNvPr id="7" name="Shape 5"/>
          <p:cNvSpPr/>
          <p:nvPr/>
        </p:nvSpPr>
        <p:spPr>
          <a:xfrm>
            <a:off x="1097280" y="3749040"/>
            <a:ext cx="4937760" cy="2011680"/>
          </a:xfrm>
          <a:prstGeom prst="rect">
            <a:avLst/>
          </a:prstGeom>
          <a:solidFill>
            <a:srgbClr val="0B130E"/>
          </a:solidFill>
          <a:ln w="12700">
            <a:solidFill>
              <a:srgbClr val="064E3B"/>
            </a:solidFill>
            <a:prstDash val="solid"/>
          </a:ln>
        </p:spPr>
      </p:sp>
      <p:sp>
        <p:nvSpPr>
          <p:cNvPr id="8" name="Text 6"/>
          <p:cNvSpPr/>
          <p:nvPr/>
        </p:nvSpPr>
        <p:spPr>
          <a:xfrm>
            <a:off x="1280160" y="3886200"/>
            <a:ext cx="4572000" cy="1737360"/>
          </a:xfrm>
          <a:prstGeom prst="rect">
            <a:avLst/>
          </a:prstGeom>
          <a:noFill/>
          <a:ln/>
        </p:spPr>
        <p:txBody>
          <a:bodyPr wrap="square" rtlCol="0" anchor="ctr"/>
          <a:lstStyle/>
          <a:p>
            <a:pPr marL="0" indent="0">
              <a:buNone/>
            </a:pPr>
            <a:r>
              <a:rPr lang="en-US" sz="1100" b="1" dirty="0">
                <a:solidFill>
                  <a:srgbClr val="94A3B8"/>
                </a:solidFill>
                <a:latin typeface="Arial" pitchFamily="34" charset="0"/>
                <a:ea typeface="Arial" pitchFamily="34" charset="-122"/>
                <a:cs typeface="Arial" pitchFamily="34" charset="-120"/>
              </a:rPr>
              <a:t>Lead Project Analyst: </a:t>
            </a:r>
            <a:r>
              <a:rPr lang="en-US" sz="1300" b="1" dirty="0">
                <a:solidFill>
                  <a:srgbClr val="FFFFFF"/>
                </a:solidFill>
                <a:latin typeface="Arial" pitchFamily="34" charset="0"/>
                <a:ea typeface="Arial" pitchFamily="34" charset="-122"/>
                <a:cs typeface="Arial" pitchFamily="34" charset="-120"/>
              </a:rPr>
              <a:t>Retail Analytics Specialist
</a:t>
            </a:r>
            <a:r>
              <a:rPr lang="en-US" sz="1100" b="1" dirty="0">
                <a:solidFill>
                  <a:srgbClr val="94A3B8"/>
                </a:solidFill>
                <a:latin typeface="Arial" pitchFamily="34" charset="0"/>
                <a:ea typeface="Arial" pitchFamily="34" charset="-122"/>
                <a:cs typeface="Arial" pitchFamily="34" charset="-120"/>
              </a:rPr>
              <a:t>Toolchain: </a:t>
            </a:r>
            <a:r>
              <a:rPr lang="en-US" sz="1100" dirty="0">
                <a:solidFill>
                  <a:srgbClr val="E2E8F0"/>
                </a:solidFill>
                <a:latin typeface="Arial" pitchFamily="34" charset="0"/>
                <a:ea typeface="Arial" pitchFamily="34" charset="-122"/>
                <a:cs typeface="Arial" pitchFamily="34" charset="-120"/>
              </a:rPr>
              <a:t>Microsoft Excel (Power Query, Pivot Tables, Statistical Modeling)
</a:t>
            </a:r>
            <a:r>
              <a:rPr lang="en-US" sz="1100" b="1" dirty="0">
                <a:solidFill>
                  <a:srgbClr val="94A3B8"/>
                </a:solidFill>
                <a:latin typeface="Arial" pitchFamily="34" charset="0"/>
                <a:ea typeface="Arial" pitchFamily="34" charset="-122"/>
                <a:cs typeface="Arial" pitchFamily="34" charset="-120"/>
              </a:rPr>
              <a:t>Objective: </a:t>
            </a:r>
            <a:r>
              <a:rPr lang="en-US" sz="1100" dirty="0">
                <a:solidFill>
                  <a:srgbClr val="E2E8F0"/>
                </a:solidFill>
                <a:latin typeface="Arial" pitchFamily="34" charset="0"/>
                <a:ea typeface="Arial" pitchFamily="34" charset="-122"/>
                <a:cs typeface="Arial" pitchFamily="34" charset="-120"/>
              </a:rPr>
              <a:t>Branch Benchmarking, Product Diagnostics &amp; Operational Recommendations</a:t>
            </a:r>
            <a:endParaRPr lang="en-US" sz="1100" dirty="0"/>
          </a:p>
        </p:txBody>
      </p:sp>
      <p:sp>
        <p:nvSpPr>
          <p:cNvPr id="9" name="Shape 7"/>
          <p:cNvSpPr/>
          <p:nvPr/>
        </p:nvSpPr>
        <p:spPr>
          <a:xfrm>
            <a:off x="6400800" y="3749040"/>
            <a:ext cx="4663440" cy="2011680"/>
          </a:xfrm>
          <a:prstGeom prst="rect">
            <a:avLst/>
          </a:prstGeom>
          <a:solidFill>
            <a:srgbClr val="0B130E"/>
          </a:solidFill>
          <a:ln w="12700">
            <a:solidFill>
              <a:srgbClr val="064E3B"/>
            </a:solidFill>
            <a:prstDash val="solid"/>
          </a:ln>
        </p:spPr>
      </p:sp>
      <p:sp>
        <p:nvSpPr>
          <p:cNvPr id="10" name="Text 8"/>
          <p:cNvSpPr/>
          <p:nvPr/>
        </p:nvSpPr>
        <p:spPr>
          <a:xfrm>
            <a:off x="6583680" y="3886200"/>
            <a:ext cx="4297680" cy="1737360"/>
          </a:xfrm>
          <a:prstGeom prst="rect">
            <a:avLst/>
          </a:prstGeom>
          <a:noFill/>
          <a:ln/>
        </p:spPr>
        <p:txBody>
          <a:bodyPr wrap="square" rtlCol="0" anchor="ctr"/>
          <a:lstStyle/>
          <a:p>
            <a:pPr marL="0" indent="0">
              <a:buNone/>
            </a:pPr>
            <a:r>
              <a:rPr lang="en-US" sz="1100" b="1" dirty="0">
                <a:solidFill>
                  <a:srgbClr val="10B981"/>
                </a:solidFill>
                <a:latin typeface="Arial" pitchFamily="34" charset="0"/>
                <a:ea typeface="Arial" pitchFamily="34" charset="-122"/>
                <a:cs typeface="Arial" pitchFamily="34" charset="-120"/>
              </a:rPr>
              <a:t>DATASET SCOPE &amp; CORE DIMENSIONS
</a:t>
            </a:r>
            <a:r>
              <a:rPr lang="en-US" sz="1000" b="1" dirty="0">
                <a:solidFill>
                  <a:srgbClr val="FFFFFF"/>
                </a:solidFill>
                <a:latin typeface="Arial" pitchFamily="34" charset="0"/>
                <a:ea typeface="Arial" pitchFamily="34" charset="-122"/>
                <a:cs typeface="Arial" pitchFamily="34" charset="-120"/>
              </a:rPr>
              <a:t>• 3 City Branches: </a:t>
            </a:r>
            <a:r>
              <a:rPr lang="en-US" sz="1000" dirty="0">
                <a:solidFill>
                  <a:srgbClr val="CBD5E1"/>
                </a:solidFill>
                <a:latin typeface="Arial" pitchFamily="34" charset="0"/>
                <a:ea typeface="Arial" pitchFamily="34" charset="-122"/>
                <a:cs typeface="Arial" pitchFamily="34" charset="-120"/>
              </a:rPr>
              <a:t>Yangon (A), Mandalay (B), Naypyitaw (C)
</a:t>
            </a:r>
            <a:r>
              <a:rPr lang="en-US" sz="1000" b="1" dirty="0">
                <a:solidFill>
                  <a:srgbClr val="FFFFFF"/>
                </a:solidFill>
                <a:latin typeface="Arial" pitchFamily="34" charset="0"/>
                <a:ea typeface="Arial" pitchFamily="34" charset="-122"/>
                <a:cs typeface="Arial" pitchFamily="34" charset="-120"/>
              </a:rPr>
              <a:t>• 6 Product Categories: </a:t>
            </a:r>
            <a:r>
              <a:rPr lang="en-US" sz="1000" dirty="0">
                <a:solidFill>
                  <a:srgbClr val="CBD5E1"/>
                </a:solidFill>
                <a:latin typeface="Arial" pitchFamily="34" charset="0"/>
                <a:ea typeface="Arial" pitchFamily="34" charset="-122"/>
                <a:cs typeface="Arial" pitchFamily="34" charset="-120"/>
              </a:rPr>
              <a:t>Food &amp; Beverages, Sports, Electronics, Fashion, Home, Health
</a:t>
            </a:r>
            <a:r>
              <a:rPr lang="en-US" sz="1000" b="1" dirty="0">
                <a:solidFill>
                  <a:srgbClr val="FFFFFF"/>
                </a:solidFill>
                <a:latin typeface="Arial" pitchFamily="34" charset="0"/>
                <a:ea typeface="Arial" pitchFamily="34" charset="-122"/>
                <a:cs typeface="Arial" pitchFamily="34" charset="-120"/>
              </a:rPr>
              <a:t>• 3 Payment Channels: </a:t>
            </a:r>
            <a:r>
              <a:rPr lang="en-US" sz="1000" dirty="0">
                <a:solidFill>
                  <a:srgbClr val="CBD5E1"/>
                </a:solidFill>
                <a:latin typeface="Arial" pitchFamily="34" charset="0"/>
                <a:ea typeface="Arial" pitchFamily="34" charset="-122"/>
                <a:cs typeface="Arial" pitchFamily="34" charset="-120"/>
              </a:rPr>
              <a:t>E-wallet, Credit Card, Cash across Q1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OVERVIEW</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Project Overview &amp; Strategic Framework</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Business problem, objectives, and how sales analysis drives executive retail decisions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2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3383280" cy="4389120"/>
          </a:xfrm>
          <a:prstGeom prst="rect">
            <a:avLst/>
          </a:prstGeom>
          <a:solidFill>
            <a:srgbClr val="FFFFFF"/>
          </a:solidFill>
          <a:ln w="12700">
            <a:solidFill>
              <a:srgbClr val="E2E8F0"/>
            </a:solidFill>
            <a:prstDash val="solid"/>
          </a:ln>
        </p:spPr>
      </p:sp>
      <p:sp>
        <p:nvSpPr>
          <p:cNvPr id="9" name="Shape 7"/>
          <p:cNvSpPr/>
          <p:nvPr/>
        </p:nvSpPr>
        <p:spPr>
          <a:xfrm>
            <a:off x="731520" y="1783080"/>
            <a:ext cx="3383280" cy="411480"/>
          </a:xfrm>
          <a:prstGeom prst="rect">
            <a:avLst/>
          </a:prstGeom>
          <a:solidFill>
            <a:srgbClr val="ECFDF5"/>
          </a:solidFill>
          <a:ln/>
        </p:spPr>
      </p:sp>
      <p:sp>
        <p:nvSpPr>
          <p:cNvPr id="10" name="Text 8"/>
          <p:cNvSpPr/>
          <p:nvPr/>
        </p:nvSpPr>
        <p:spPr>
          <a:xfrm>
            <a:off x="914400" y="1874520"/>
            <a:ext cx="3017520" cy="27432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CHALLENGE</a:t>
            </a:r>
            <a:endParaRPr lang="en-US" sz="1000" dirty="0"/>
          </a:p>
        </p:txBody>
      </p:sp>
      <p:sp>
        <p:nvSpPr>
          <p:cNvPr id="11" name="Text 9"/>
          <p:cNvSpPr/>
          <p:nvPr/>
        </p:nvSpPr>
        <p:spPr>
          <a:xfrm>
            <a:off x="914400" y="2377440"/>
            <a:ext cx="3017520" cy="457200"/>
          </a:xfrm>
          <a:prstGeom prst="rect">
            <a:avLst/>
          </a:prstGeom>
          <a:noFill/>
          <a:ln/>
        </p:spPr>
        <p:txBody>
          <a:bodyPr wrap="square" rtlCol="0" anchor="ctr"/>
          <a:lstStyle/>
          <a:p>
            <a:pPr marL="0" indent="0">
              <a:buNone/>
            </a:pPr>
            <a:r>
              <a:rPr lang="en-US" sz="1500" b="1" dirty="0">
                <a:solidFill>
                  <a:srgbClr val="0B130E"/>
                </a:solidFill>
                <a:latin typeface="Arial" pitchFamily="34" charset="0"/>
                <a:ea typeface="Arial" pitchFamily="34" charset="-122"/>
                <a:cs typeface="Arial" pitchFamily="34" charset="-120"/>
              </a:rPr>
              <a:t>The Business Problem</a:t>
            </a:r>
            <a:endParaRPr lang="en-US" sz="1500" dirty="0"/>
          </a:p>
        </p:txBody>
      </p:sp>
      <p:sp>
        <p:nvSpPr>
          <p:cNvPr id="12" name="Text 10"/>
          <p:cNvSpPr/>
          <p:nvPr/>
        </p:nvSpPr>
        <p:spPr>
          <a:xfrm>
            <a:off x="914400" y="2926080"/>
            <a:ext cx="3017520" cy="292608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Supermarkets manage thousands of fast-moving SKUs across varied city demographics. Without granular analytics, management risks misallocating inventory, running blind promotions, and experiencing unmonitored branch revenue leakage.</a:t>
            </a:r>
            <a:endParaRPr lang="en-US" sz="1100" dirty="0"/>
          </a:p>
        </p:txBody>
      </p:sp>
      <p:sp>
        <p:nvSpPr>
          <p:cNvPr id="13" name="Shape 11"/>
          <p:cNvSpPr/>
          <p:nvPr/>
        </p:nvSpPr>
        <p:spPr>
          <a:xfrm>
            <a:off x="4389120" y="1783080"/>
            <a:ext cx="3383280" cy="4389120"/>
          </a:xfrm>
          <a:prstGeom prst="rect">
            <a:avLst/>
          </a:prstGeom>
          <a:solidFill>
            <a:srgbClr val="FFFFFF"/>
          </a:solidFill>
          <a:ln w="12700">
            <a:solidFill>
              <a:srgbClr val="E2E8F0"/>
            </a:solidFill>
            <a:prstDash val="solid"/>
          </a:ln>
        </p:spPr>
      </p:sp>
      <p:sp>
        <p:nvSpPr>
          <p:cNvPr id="14" name="Shape 12"/>
          <p:cNvSpPr/>
          <p:nvPr/>
        </p:nvSpPr>
        <p:spPr>
          <a:xfrm>
            <a:off x="4389120" y="1783080"/>
            <a:ext cx="3383280" cy="411480"/>
          </a:xfrm>
          <a:prstGeom prst="rect">
            <a:avLst/>
          </a:prstGeom>
          <a:solidFill>
            <a:srgbClr val="064E3B"/>
          </a:solidFill>
          <a:ln/>
        </p:spPr>
      </p:sp>
      <p:sp>
        <p:nvSpPr>
          <p:cNvPr id="15" name="Text 13"/>
          <p:cNvSpPr/>
          <p:nvPr/>
        </p:nvSpPr>
        <p:spPr>
          <a:xfrm>
            <a:off x="4572000" y="1874520"/>
            <a:ext cx="3017520" cy="2743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GOALS</a:t>
            </a:r>
            <a:endParaRPr lang="en-US" sz="1000" dirty="0"/>
          </a:p>
        </p:txBody>
      </p:sp>
      <p:sp>
        <p:nvSpPr>
          <p:cNvPr id="16" name="Text 14"/>
          <p:cNvSpPr/>
          <p:nvPr/>
        </p:nvSpPr>
        <p:spPr>
          <a:xfrm>
            <a:off x="4572000" y="2377440"/>
            <a:ext cx="3017520" cy="457200"/>
          </a:xfrm>
          <a:prstGeom prst="rect">
            <a:avLst/>
          </a:prstGeom>
          <a:noFill/>
          <a:ln/>
        </p:spPr>
        <p:txBody>
          <a:bodyPr wrap="square" rtlCol="0" anchor="ctr"/>
          <a:lstStyle/>
          <a:p>
            <a:pPr marL="0" indent="0">
              <a:buNone/>
            </a:pPr>
            <a:r>
              <a:rPr lang="en-US" sz="1500" b="1" dirty="0">
                <a:solidFill>
                  <a:srgbClr val="0B130E"/>
                </a:solidFill>
                <a:latin typeface="Arial" pitchFamily="34" charset="0"/>
                <a:ea typeface="Arial" pitchFamily="34" charset="-122"/>
                <a:cs typeface="Arial" pitchFamily="34" charset="-120"/>
              </a:rPr>
              <a:t>Project Objectives</a:t>
            </a:r>
            <a:endParaRPr lang="en-US" sz="1500" dirty="0"/>
          </a:p>
        </p:txBody>
      </p:sp>
      <p:sp>
        <p:nvSpPr>
          <p:cNvPr id="17" name="Text 15"/>
          <p:cNvSpPr/>
          <p:nvPr/>
        </p:nvSpPr>
        <p:spPr>
          <a:xfrm>
            <a:off x="4572000" y="2926080"/>
            <a:ext cx="3017520" cy="292608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Analyze historical transaction records to isolate top-performing product lines, evaluate city-level differences (Naypyitaw vs Mandalay), audit payment channel adoption, and understand customer time-of-day traffic patterns.</a:t>
            </a:r>
            <a:endParaRPr lang="en-US" sz="1100" dirty="0"/>
          </a:p>
        </p:txBody>
      </p:sp>
      <p:sp>
        <p:nvSpPr>
          <p:cNvPr id="18" name="Shape 16"/>
          <p:cNvSpPr/>
          <p:nvPr/>
        </p:nvSpPr>
        <p:spPr>
          <a:xfrm>
            <a:off x="8046720" y="1783080"/>
            <a:ext cx="3383280" cy="4389120"/>
          </a:xfrm>
          <a:prstGeom prst="rect">
            <a:avLst/>
          </a:prstGeom>
          <a:solidFill>
            <a:srgbClr val="FFFFFF"/>
          </a:solidFill>
          <a:ln w="12700">
            <a:solidFill>
              <a:srgbClr val="E2E8F0"/>
            </a:solidFill>
            <a:prstDash val="solid"/>
          </a:ln>
        </p:spPr>
      </p:sp>
      <p:sp>
        <p:nvSpPr>
          <p:cNvPr id="19" name="Shape 17"/>
          <p:cNvSpPr/>
          <p:nvPr/>
        </p:nvSpPr>
        <p:spPr>
          <a:xfrm>
            <a:off x="8046720" y="1783080"/>
            <a:ext cx="3383280" cy="411480"/>
          </a:xfrm>
          <a:prstGeom prst="rect">
            <a:avLst/>
          </a:prstGeom>
          <a:solidFill>
            <a:srgbClr val="ECFDF5"/>
          </a:solidFill>
          <a:ln/>
        </p:spPr>
      </p:sp>
      <p:sp>
        <p:nvSpPr>
          <p:cNvPr id="20" name="Text 18"/>
          <p:cNvSpPr/>
          <p:nvPr/>
        </p:nvSpPr>
        <p:spPr>
          <a:xfrm>
            <a:off x="8229600" y="1874520"/>
            <a:ext cx="3017520" cy="27432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METHODOLOGY</a:t>
            </a:r>
            <a:endParaRPr lang="en-US" sz="1000" dirty="0"/>
          </a:p>
        </p:txBody>
      </p:sp>
      <p:sp>
        <p:nvSpPr>
          <p:cNvPr id="21" name="Text 19"/>
          <p:cNvSpPr/>
          <p:nvPr/>
        </p:nvSpPr>
        <p:spPr>
          <a:xfrm>
            <a:off x="8229600" y="2377440"/>
            <a:ext cx="3017520" cy="457200"/>
          </a:xfrm>
          <a:prstGeom prst="rect">
            <a:avLst/>
          </a:prstGeom>
          <a:noFill/>
          <a:ln/>
        </p:spPr>
        <p:txBody>
          <a:bodyPr wrap="square" rtlCol="0" anchor="ctr"/>
          <a:lstStyle/>
          <a:p>
            <a:pPr marL="0" indent="0">
              <a:buNone/>
            </a:pPr>
            <a:r>
              <a:rPr lang="en-US" sz="1500" b="1" dirty="0">
                <a:solidFill>
                  <a:srgbClr val="0B130E"/>
                </a:solidFill>
                <a:latin typeface="Arial" pitchFamily="34" charset="0"/>
                <a:ea typeface="Arial" pitchFamily="34" charset="-122"/>
                <a:cs typeface="Arial" pitchFamily="34" charset="-120"/>
              </a:rPr>
              <a:t>Microsoft Excel Analytics Stack</a:t>
            </a:r>
            <a:endParaRPr lang="en-US" sz="1500" dirty="0"/>
          </a:p>
        </p:txBody>
      </p:sp>
      <p:sp>
        <p:nvSpPr>
          <p:cNvPr id="22" name="Text 20"/>
          <p:cNvSpPr/>
          <p:nvPr/>
        </p:nvSpPr>
        <p:spPr>
          <a:xfrm>
            <a:off x="8229600" y="2926080"/>
            <a:ext cx="3017520" cy="292608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Leveraged Microsoft Excel for end-to-end data preparation, automated KPI reporting, pivot modeling, and executive dashboard design to translate raw transactional data into structured, practical management recommendations.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DATA ARCHITECTURE</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Supermarket Sales Dataset Overview</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Verified dataset schema, primary dimensions, and analytical governance boundaries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3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698480" cy="2819400"/>
        </p:xfrm>
        <a:graphic>
          <a:graphicData uri="http://schemas.openxmlformats.org/drawingml/2006/table">
            <a:tbl>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Arial" pitchFamily="34" charset="0"/>
                          <a:ea typeface="Arial" pitchFamily="34" charset="-122"/>
                          <a:cs typeface="Arial" pitchFamily="34" charset="-120"/>
                        </a:rPr>
                        <a:t>Dimension / Attribute</a:t>
                      </a:r>
                      <a:endParaRPr lang="en-US" sz="11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Analyzed Domain Scope</a:t>
                      </a:r>
                      <a:endParaRPr lang="en-US" sz="11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Analytical Relevance for Management</a:t>
                      </a:r>
                      <a:endParaRPr lang="en-US" sz="11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Product Line</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6 Standard Lines: Food &amp; Beverages, Sports, Electronics, Fashion, Home, Health</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Merchandising prioritization, inventory reordering, and margin management</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City &amp; Branch</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 Branches: Yangon (Branch A), Mandalay (Branch B), Naypyitaw (Branch C)</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Cross-city benchmarking, store operational efficiency, and local demographics</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Customer Type</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Member vs. Normal (Walk-in non-member)</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Loyalty program penetration, recurring basket value, and retention</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Gender</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Female vs. Male</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Category purchasing preferences and demographic campaign targeting</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Payment Method</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E-wallet, Credit Card, Cash</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Checkout friction, transaction processing volume, and partner incentives</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Date &amp; Time</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Transaction Date (Jan–Mar Q1), Time-of-day (Morning vs Evening)</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Peak shopping window planning, staff scheduling, and seasonal trend tracking</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Sales &amp; Quantity</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Unit Price, Quantity, Tax (5%), Total Gross Sales, Cost of Goods Sold</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Direct top-line revenue contribution and average transaction ticket analysis</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000" b="1" dirty="0">
                          <a:solidFill>
                            <a:srgbClr val="0B130E"/>
                          </a:solidFill>
                          <a:latin typeface="Arial" pitchFamily="34" charset="0"/>
                          <a:ea typeface="Arial" pitchFamily="34" charset="-122"/>
                          <a:cs typeface="Arial" pitchFamily="34" charset="-120"/>
                        </a:rPr>
                        <a:t>Customer Rating</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Post-transaction feedback scores (Scale 4.0 – 10.0)</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Store experience audit, branch satisfaction parity, and quality tracking</a:t>
                      </a:r>
                      <a:endParaRPr lang="en-US" sz="1000" dirty="0">
                        <a:latin typeface="Arial" charset="0"/>
                        <a:ea typeface="Arial" charset="0"/>
                        <a:cs typeface="Arial"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EXECUTIVE KPI</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Executive Summary: Core Empirical Findings</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Top-level key performance indicators verified directly from the analyzed dataset</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4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3383280" cy="2103120"/>
          </a:xfrm>
          <a:prstGeom prst="rect">
            <a:avLst/>
          </a:prstGeom>
          <a:solidFill>
            <a:srgbClr val="FFFFFF"/>
          </a:solidFill>
          <a:ln w="25400">
            <a:solidFill>
              <a:srgbClr val="10B981"/>
            </a:solidFill>
            <a:prstDash val="solid"/>
          </a:ln>
        </p:spPr>
      </p:sp>
      <p:sp>
        <p:nvSpPr>
          <p:cNvPr id="9" name="Text 7"/>
          <p:cNvSpPr/>
          <p:nvPr/>
        </p:nvSpPr>
        <p:spPr>
          <a:xfrm>
            <a:off x="960120" y="1920240"/>
            <a:ext cx="2926080" cy="22860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TOP PRODUCT CATEGORY</a:t>
            </a:r>
            <a:endParaRPr lang="en-US" sz="1000" dirty="0"/>
          </a:p>
        </p:txBody>
      </p:sp>
      <p:sp>
        <p:nvSpPr>
          <p:cNvPr id="10" name="Text 8"/>
          <p:cNvSpPr/>
          <p:nvPr/>
        </p:nvSpPr>
        <p:spPr>
          <a:xfrm>
            <a:off x="960120" y="2194560"/>
            <a:ext cx="292608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Food &amp; Beverages</a:t>
            </a:r>
            <a:endParaRPr lang="en-US" sz="2200" dirty="0"/>
          </a:p>
        </p:txBody>
      </p:sp>
      <p:sp>
        <p:nvSpPr>
          <p:cNvPr id="11" name="Text 9"/>
          <p:cNvSpPr/>
          <p:nvPr/>
        </p:nvSpPr>
        <p:spPr>
          <a:xfrm>
            <a:off x="960120" y="2697480"/>
            <a:ext cx="292608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Leads volume &amp; ticket frequency</a:t>
            </a:r>
            <a:endParaRPr lang="en-US" sz="1100" dirty="0"/>
          </a:p>
        </p:txBody>
      </p:sp>
      <p:sp>
        <p:nvSpPr>
          <p:cNvPr id="12" name="Text 10"/>
          <p:cNvSpPr/>
          <p:nvPr/>
        </p:nvSpPr>
        <p:spPr>
          <a:xfrm>
            <a:off x="960120" y="3017520"/>
            <a:ext cx="2926080" cy="7315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Highest overall gross sales, followed by Sports and Travel.</a:t>
            </a:r>
            <a:endParaRPr lang="en-US" sz="1000" dirty="0"/>
          </a:p>
        </p:txBody>
      </p:sp>
      <p:sp>
        <p:nvSpPr>
          <p:cNvPr id="13" name="Shape 11"/>
          <p:cNvSpPr/>
          <p:nvPr/>
        </p:nvSpPr>
        <p:spPr>
          <a:xfrm>
            <a:off x="4389120" y="1783080"/>
            <a:ext cx="3383280" cy="2103120"/>
          </a:xfrm>
          <a:prstGeom prst="rect">
            <a:avLst/>
          </a:prstGeom>
          <a:solidFill>
            <a:srgbClr val="FFFFFF"/>
          </a:solidFill>
          <a:ln w="25400">
            <a:solidFill>
              <a:srgbClr val="10B981"/>
            </a:solidFill>
            <a:prstDash val="solid"/>
          </a:ln>
        </p:spPr>
      </p:sp>
      <p:sp>
        <p:nvSpPr>
          <p:cNvPr id="14" name="Text 12"/>
          <p:cNvSpPr/>
          <p:nvPr/>
        </p:nvSpPr>
        <p:spPr>
          <a:xfrm>
            <a:off x="4617720" y="1920240"/>
            <a:ext cx="2926080" cy="22860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TOP PERFORMING CITY</a:t>
            </a:r>
            <a:endParaRPr lang="en-US" sz="1000" dirty="0"/>
          </a:p>
        </p:txBody>
      </p:sp>
      <p:sp>
        <p:nvSpPr>
          <p:cNvPr id="15" name="Text 13"/>
          <p:cNvSpPr/>
          <p:nvPr/>
        </p:nvSpPr>
        <p:spPr>
          <a:xfrm>
            <a:off x="4617720" y="2194560"/>
            <a:ext cx="292608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110,568.71</a:t>
            </a:r>
            <a:endParaRPr lang="en-US" sz="2200" dirty="0"/>
          </a:p>
        </p:txBody>
      </p:sp>
      <p:sp>
        <p:nvSpPr>
          <p:cNvPr id="16" name="Text 14"/>
          <p:cNvSpPr/>
          <p:nvPr/>
        </p:nvSpPr>
        <p:spPr>
          <a:xfrm>
            <a:off x="4617720" y="2697480"/>
            <a:ext cx="292608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Naypyitaw</a:t>
            </a:r>
            <a:endParaRPr lang="en-US" sz="1100" dirty="0"/>
          </a:p>
        </p:txBody>
      </p:sp>
      <p:sp>
        <p:nvSpPr>
          <p:cNvPr id="17" name="Text 15"/>
          <p:cNvSpPr/>
          <p:nvPr/>
        </p:nvSpPr>
        <p:spPr>
          <a:xfrm>
            <a:off x="4617720" y="3017520"/>
            <a:ext cx="2926080" cy="7315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Outperformed Mandalay (106,197.67) by 4,371.04 in analyzed sales.</a:t>
            </a:r>
            <a:endParaRPr lang="en-US" sz="1000" dirty="0"/>
          </a:p>
        </p:txBody>
      </p:sp>
      <p:sp>
        <p:nvSpPr>
          <p:cNvPr id="18" name="Shape 16"/>
          <p:cNvSpPr/>
          <p:nvPr/>
        </p:nvSpPr>
        <p:spPr>
          <a:xfrm>
            <a:off x="8046720" y="1783080"/>
            <a:ext cx="3383280" cy="2103120"/>
          </a:xfrm>
          <a:prstGeom prst="rect">
            <a:avLst/>
          </a:prstGeom>
          <a:solidFill>
            <a:srgbClr val="FFFFFF"/>
          </a:solidFill>
          <a:ln w="12700">
            <a:solidFill>
              <a:srgbClr val="E2E8F0"/>
            </a:solidFill>
            <a:prstDash val="solid"/>
          </a:ln>
        </p:spPr>
      </p:sp>
      <p:sp>
        <p:nvSpPr>
          <p:cNvPr id="19" name="Text 17"/>
          <p:cNvSpPr/>
          <p:nvPr/>
        </p:nvSpPr>
        <p:spPr>
          <a:xfrm>
            <a:off x="8275320" y="1920240"/>
            <a:ext cx="2926080" cy="22860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HIGHEST SALES MONTH</a:t>
            </a:r>
            <a:endParaRPr lang="en-US" sz="1000" dirty="0"/>
          </a:p>
        </p:txBody>
      </p:sp>
      <p:sp>
        <p:nvSpPr>
          <p:cNvPr id="20" name="Text 18"/>
          <p:cNvSpPr/>
          <p:nvPr/>
        </p:nvSpPr>
        <p:spPr>
          <a:xfrm>
            <a:off x="8275320" y="2194560"/>
            <a:ext cx="292608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116,291.87</a:t>
            </a:r>
            <a:endParaRPr lang="en-US" sz="2200" dirty="0"/>
          </a:p>
        </p:txBody>
      </p:sp>
      <p:sp>
        <p:nvSpPr>
          <p:cNvPr id="21" name="Text 19"/>
          <p:cNvSpPr/>
          <p:nvPr/>
        </p:nvSpPr>
        <p:spPr>
          <a:xfrm>
            <a:off x="8275320" y="2697480"/>
            <a:ext cx="292608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January</a:t>
            </a:r>
            <a:endParaRPr lang="en-US" sz="1100" dirty="0"/>
          </a:p>
        </p:txBody>
      </p:sp>
      <p:sp>
        <p:nvSpPr>
          <p:cNvPr id="22" name="Text 20"/>
          <p:cNvSpPr/>
          <p:nvPr/>
        </p:nvSpPr>
        <p:spPr>
          <a:xfrm>
            <a:off x="8275320" y="3017520"/>
            <a:ext cx="2926080" cy="7315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Strongest sales period across all three branches in Q1.</a:t>
            </a:r>
            <a:endParaRPr lang="en-US" sz="1000" dirty="0"/>
          </a:p>
        </p:txBody>
      </p:sp>
      <p:sp>
        <p:nvSpPr>
          <p:cNvPr id="23" name="Shape 21"/>
          <p:cNvSpPr/>
          <p:nvPr/>
        </p:nvSpPr>
        <p:spPr>
          <a:xfrm>
            <a:off x="731520" y="4069080"/>
            <a:ext cx="5212080" cy="2103120"/>
          </a:xfrm>
          <a:prstGeom prst="rect">
            <a:avLst/>
          </a:prstGeom>
          <a:solidFill>
            <a:srgbClr val="FFFFFF"/>
          </a:solidFill>
          <a:ln w="12700">
            <a:solidFill>
              <a:srgbClr val="E2E8F0"/>
            </a:solidFill>
            <a:prstDash val="solid"/>
          </a:ln>
        </p:spPr>
      </p:sp>
      <p:sp>
        <p:nvSpPr>
          <p:cNvPr id="24" name="Text 22"/>
          <p:cNvSpPr/>
          <p:nvPr/>
        </p:nvSpPr>
        <p:spPr>
          <a:xfrm>
            <a:off x="1005840" y="4251960"/>
            <a:ext cx="4663440" cy="22860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LOWEST SALES MONTH</a:t>
            </a:r>
            <a:endParaRPr lang="en-US" sz="1000" dirty="0"/>
          </a:p>
        </p:txBody>
      </p:sp>
      <p:sp>
        <p:nvSpPr>
          <p:cNvPr id="25" name="Text 23"/>
          <p:cNvSpPr/>
          <p:nvPr/>
        </p:nvSpPr>
        <p:spPr>
          <a:xfrm>
            <a:off x="1005840" y="4526280"/>
            <a:ext cx="466344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97,219.37</a:t>
            </a:r>
            <a:endParaRPr lang="en-US" sz="2200" dirty="0"/>
          </a:p>
        </p:txBody>
      </p:sp>
      <p:sp>
        <p:nvSpPr>
          <p:cNvPr id="26" name="Text 24"/>
          <p:cNvSpPr/>
          <p:nvPr/>
        </p:nvSpPr>
        <p:spPr>
          <a:xfrm>
            <a:off x="1005840" y="5029200"/>
            <a:ext cx="466344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February</a:t>
            </a:r>
            <a:endParaRPr lang="en-US" sz="1100" dirty="0"/>
          </a:p>
        </p:txBody>
      </p:sp>
      <p:sp>
        <p:nvSpPr>
          <p:cNvPr id="27" name="Text 25"/>
          <p:cNvSpPr/>
          <p:nvPr/>
        </p:nvSpPr>
        <p:spPr>
          <a:xfrm>
            <a:off x="1005840" y="5349240"/>
            <a:ext cx="4663440" cy="6858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Decline linked primarily to Electronics Accessories contraction.</a:t>
            </a:r>
            <a:endParaRPr lang="en-US" sz="1000" dirty="0"/>
          </a:p>
        </p:txBody>
      </p:sp>
      <p:sp>
        <p:nvSpPr>
          <p:cNvPr id="28" name="Shape 26"/>
          <p:cNvSpPr/>
          <p:nvPr/>
        </p:nvSpPr>
        <p:spPr>
          <a:xfrm>
            <a:off x="6217920" y="4069080"/>
            <a:ext cx="5212080" cy="2103120"/>
          </a:xfrm>
          <a:prstGeom prst="rect">
            <a:avLst/>
          </a:prstGeom>
          <a:solidFill>
            <a:srgbClr val="FFFFFF"/>
          </a:solidFill>
          <a:ln w="12700">
            <a:solidFill>
              <a:srgbClr val="E2E8F0"/>
            </a:solidFill>
            <a:prstDash val="solid"/>
          </a:ln>
        </p:spPr>
      </p:sp>
      <p:sp>
        <p:nvSpPr>
          <p:cNvPr id="29" name="Text 27"/>
          <p:cNvSpPr/>
          <p:nvPr/>
        </p:nvSpPr>
        <p:spPr>
          <a:xfrm>
            <a:off x="6492240" y="4251960"/>
            <a:ext cx="4663440" cy="22860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PEAK SHOPPING PERIOD</a:t>
            </a:r>
            <a:endParaRPr lang="en-US" sz="1000" dirty="0"/>
          </a:p>
        </p:txBody>
      </p:sp>
      <p:sp>
        <p:nvSpPr>
          <p:cNvPr id="30" name="Text 28"/>
          <p:cNvSpPr/>
          <p:nvPr/>
        </p:nvSpPr>
        <p:spPr>
          <a:xfrm>
            <a:off x="6492240" y="4526280"/>
            <a:ext cx="466344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113,144.60</a:t>
            </a:r>
            <a:endParaRPr lang="en-US" sz="2200" dirty="0"/>
          </a:p>
        </p:txBody>
      </p:sp>
      <p:sp>
        <p:nvSpPr>
          <p:cNvPr id="31" name="Text 29"/>
          <p:cNvSpPr/>
          <p:nvPr/>
        </p:nvSpPr>
        <p:spPr>
          <a:xfrm>
            <a:off x="6492240" y="5029200"/>
            <a:ext cx="466344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Evening Hours</a:t>
            </a:r>
            <a:endParaRPr lang="en-US" sz="1100" dirty="0"/>
          </a:p>
        </p:txBody>
      </p:sp>
      <p:sp>
        <p:nvSpPr>
          <p:cNvPr id="32" name="Text 30"/>
          <p:cNvSpPr/>
          <p:nvPr/>
        </p:nvSpPr>
        <p:spPr>
          <a:xfrm>
            <a:off x="6492240" y="5349240"/>
            <a:ext cx="4663440" cy="6858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Dominated the 31,421.48 recorded during morning retail hours.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PRODUCT ANALYTICS</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Product Line Performance &amp; Category Hierarchy</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Category-level sales prioritization based on verified dataset rankings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5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graphicFrame>
        <p:nvGraphicFramePr>
          <p:cNvPr id="8" name="Chart 0"/>
          <p:cNvGraphicFramePr/>
          <p:nvPr/>
        </p:nvGraphicFramePr>
        <p:xfrm>
          <a:off x="731520" y="1783080"/>
          <a:ext cx="59436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949440" y="1783080"/>
            <a:ext cx="4480560" cy="4389120"/>
          </a:xfrm>
          <a:prstGeom prst="rect">
            <a:avLst/>
          </a:prstGeom>
          <a:solidFill>
            <a:srgbClr val="FFFFFF"/>
          </a:solidFill>
          <a:ln w="12700">
            <a:solidFill>
              <a:srgbClr val="E2E8F0"/>
            </a:solidFill>
            <a:prstDash val="solid"/>
          </a:ln>
        </p:spPr>
      </p:sp>
      <p:sp>
        <p:nvSpPr>
          <p:cNvPr id="10" name="Text 7"/>
          <p:cNvSpPr/>
          <p:nvPr/>
        </p:nvSpPr>
        <p:spPr>
          <a:xfrm>
            <a:off x="7223760" y="1965960"/>
            <a:ext cx="393192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CATEGORY STRATEGIC IMPLICATIONS</a:t>
            </a:r>
            <a:endParaRPr lang="en-US" sz="1100" dirty="0"/>
          </a:p>
        </p:txBody>
      </p:sp>
      <p:sp>
        <p:nvSpPr>
          <p:cNvPr id="11" name="Text 8"/>
          <p:cNvSpPr/>
          <p:nvPr/>
        </p:nvSpPr>
        <p:spPr>
          <a:xfrm>
            <a:off x="7223760" y="2331720"/>
            <a:ext cx="3931920" cy="3657600"/>
          </a:xfrm>
          <a:prstGeom prst="rect">
            <a:avLst/>
          </a:prstGeom>
          <a:noFill/>
          <a:ln/>
        </p:spPr>
        <p:txBody>
          <a:bodyPr wrap="square" rtlCol="0" anchor="ctr"/>
          <a:lstStyle/>
          <a:p>
            <a:pPr marL="0" indent="0">
              <a:buNone/>
            </a:pPr>
            <a:r>
              <a:rPr lang="en-US" sz="1100" b="1" dirty="0">
                <a:solidFill>
                  <a:srgbClr val="0B130E"/>
                </a:solidFill>
                <a:latin typeface="Arial" pitchFamily="34" charset="0"/>
                <a:ea typeface="Arial" pitchFamily="34" charset="-122"/>
                <a:cs typeface="Arial" pitchFamily="34" charset="-120"/>
              </a:rPr>
              <a:t>1. Food and Beverages (Rank #1):
</a:t>
            </a:r>
            <a:r>
              <a:rPr lang="en-US" sz="1000" dirty="0">
                <a:solidFill>
                  <a:srgbClr val="64748B"/>
                </a:solidFill>
                <a:latin typeface="Arial" pitchFamily="34" charset="0"/>
                <a:ea typeface="Arial" pitchFamily="34" charset="-122"/>
                <a:cs typeface="Arial" pitchFamily="34" charset="-120"/>
              </a:rPr>
              <a:t>Recorded the highest gross sales across the supermarket chain. Serves as the primary footfall driver and anchor basket builder.
</a:t>
            </a:r>
            <a:r>
              <a:rPr lang="en-US" sz="1100" b="1" dirty="0">
                <a:solidFill>
                  <a:srgbClr val="0B130E"/>
                </a:solidFill>
                <a:latin typeface="Arial" pitchFamily="34" charset="0"/>
                <a:ea typeface="Arial" pitchFamily="34" charset="-122"/>
                <a:cs typeface="Arial" pitchFamily="34" charset="-120"/>
              </a:rPr>
              <a:t>2. Sports and Travel (Rank #2 Runner-up):
</a:t>
            </a:r>
            <a:r>
              <a:rPr lang="en-US" sz="1000" dirty="0">
                <a:solidFill>
                  <a:srgbClr val="64748B"/>
                </a:solidFill>
                <a:latin typeface="Arial" pitchFamily="34" charset="0"/>
                <a:ea typeface="Arial" pitchFamily="34" charset="-122"/>
                <a:cs typeface="Arial" pitchFamily="34" charset="-120"/>
              </a:rPr>
              <a:t>High average transaction values; represents key discretionary category requiring cross-merchandising.
</a:t>
            </a:r>
            <a:r>
              <a:rPr lang="en-US" sz="1100" b="1" dirty="0">
                <a:solidFill>
                  <a:srgbClr val="0B130E"/>
                </a:solidFill>
                <a:latin typeface="Arial" pitchFamily="34" charset="0"/>
                <a:ea typeface="Arial" pitchFamily="34" charset="-122"/>
                <a:cs typeface="Arial" pitchFamily="34" charset="-120"/>
              </a:rPr>
              <a:t>3. Inventory Prioritization Takeaway:
</a:t>
            </a:r>
            <a:r>
              <a:rPr lang="en-US" sz="1000" dirty="0">
                <a:solidFill>
                  <a:srgbClr val="64748B"/>
                </a:solidFill>
                <a:latin typeface="Arial" pitchFamily="34" charset="0"/>
                <a:ea typeface="Arial" pitchFamily="34" charset="-122"/>
                <a:cs typeface="Arial" pitchFamily="34" charset="-120"/>
              </a:rPr>
              <a:t>Uniform replenishment across all lines causes either stockouts in F&amp;B or excess holding costs in slower tiers. Safety stock must be aligned with verified category velocity.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BRANCH BENCHMARKING</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City &amp; Branch Performance Benchmark</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Direct comparison between Naypyitaw and Mandalay, plus Branch C category insights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6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5212080" cy="2103120"/>
          </a:xfrm>
          <a:prstGeom prst="rect">
            <a:avLst/>
          </a:prstGeom>
          <a:solidFill>
            <a:srgbClr val="ECFDF5"/>
          </a:solidFill>
          <a:ln w="25400">
            <a:solidFill>
              <a:srgbClr val="10B981"/>
            </a:solidFill>
            <a:prstDash val="solid"/>
          </a:ln>
        </p:spPr>
      </p:sp>
      <p:sp>
        <p:nvSpPr>
          <p:cNvPr id="9" name="Text 7"/>
          <p:cNvSpPr/>
          <p:nvPr/>
        </p:nvSpPr>
        <p:spPr>
          <a:xfrm>
            <a:off x="1005840" y="1965960"/>
            <a:ext cx="4663440" cy="27432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TOP PERFORMING CITY (BRANCH C)</a:t>
            </a:r>
            <a:endParaRPr lang="en-US" sz="1000" dirty="0"/>
          </a:p>
        </p:txBody>
      </p:sp>
      <p:sp>
        <p:nvSpPr>
          <p:cNvPr id="10" name="Text 8"/>
          <p:cNvSpPr/>
          <p:nvPr/>
        </p:nvSpPr>
        <p:spPr>
          <a:xfrm>
            <a:off x="1005840" y="2286000"/>
            <a:ext cx="466344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Naypyitaw: 110,568.71</a:t>
            </a:r>
            <a:endParaRPr lang="en-US" sz="2200" dirty="0"/>
          </a:p>
        </p:txBody>
      </p:sp>
      <p:sp>
        <p:nvSpPr>
          <p:cNvPr id="11" name="Text 9"/>
          <p:cNvSpPr/>
          <p:nvPr/>
        </p:nvSpPr>
        <p:spPr>
          <a:xfrm>
            <a:off x="1005840" y="2788920"/>
            <a:ext cx="4663440" cy="9144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Highest recorded sales volume among all cities in the dataset. Demonstrates consistent customer traffic and healthy category breadth.</a:t>
            </a:r>
            <a:endParaRPr lang="en-US" sz="1000" dirty="0"/>
          </a:p>
        </p:txBody>
      </p:sp>
      <p:sp>
        <p:nvSpPr>
          <p:cNvPr id="12" name="Shape 10"/>
          <p:cNvSpPr/>
          <p:nvPr/>
        </p:nvSpPr>
        <p:spPr>
          <a:xfrm>
            <a:off x="6217920" y="1783080"/>
            <a:ext cx="5212080" cy="2103120"/>
          </a:xfrm>
          <a:prstGeom prst="rect">
            <a:avLst/>
          </a:prstGeom>
          <a:solidFill>
            <a:srgbClr val="FFFFFF"/>
          </a:solidFill>
          <a:ln w="12700">
            <a:solidFill>
              <a:srgbClr val="E2E8F0"/>
            </a:solidFill>
            <a:prstDash val="solid"/>
          </a:ln>
        </p:spPr>
      </p:sp>
      <p:sp>
        <p:nvSpPr>
          <p:cNvPr id="13" name="Text 11"/>
          <p:cNvSpPr/>
          <p:nvPr/>
        </p:nvSpPr>
        <p:spPr>
          <a:xfrm>
            <a:off x="6492240" y="1965960"/>
            <a:ext cx="4663440" cy="274320"/>
          </a:xfrm>
          <a:prstGeom prst="rect">
            <a:avLst/>
          </a:prstGeom>
          <a:noFill/>
          <a:ln/>
        </p:spPr>
        <p:txBody>
          <a:bodyPr wrap="square" rtlCol="0" anchor="ctr"/>
          <a:lstStyle/>
          <a:p>
            <a:pPr marL="0" indent="0">
              <a:buNone/>
            </a:pPr>
            <a:r>
              <a:rPr lang="en-US" sz="1000" b="1" dirty="0">
                <a:solidFill>
                  <a:srgbClr val="DC2626"/>
                </a:solidFill>
                <a:latin typeface="Arial" pitchFamily="34" charset="0"/>
                <a:ea typeface="Arial" pitchFamily="34" charset="-122"/>
                <a:cs typeface="Arial" pitchFamily="34" charset="-120"/>
              </a:rPr>
              <a:t>LOWER SALES CITY (BRANCH B)</a:t>
            </a:r>
            <a:endParaRPr lang="en-US" sz="1000" dirty="0"/>
          </a:p>
        </p:txBody>
      </p:sp>
      <p:sp>
        <p:nvSpPr>
          <p:cNvPr id="14" name="Text 12"/>
          <p:cNvSpPr/>
          <p:nvPr/>
        </p:nvSpPr>
        <p:spPr>
          <a:xfrm>
            <a:off x="6492240" y="2286000"/>
            <a:ext cx="4663440" cy="45720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Mandalay: 106,197.67</a:t>
            </a:r>
            <a:endParaRPr lang="en-US" sz="2200" dirty="0"/>
          </a:p>
        </p:txBody>
      </p:sp>
      <p:sp>
        <p:nvSpPr>
          <p:cNvPr id="15" name="Text 13"/>
          <p:cNvSpPr/>
          <p:nvPr/>
        </p:nvSpPr>
        <p:spPr>
          <a:xfrm>
            <a:off x="6492240" y="2788920"/>
            <a:ext cx="4663440" cy="9144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Revenue gap of 4,371.04 compared to Naypyitaw. Underperformance concentrated in Food &amp; Beverages and Fashion Accessories.</a:t>
            </a:r>
            <a:endParaRPr lang="en-US" sz="1000" dirty="0"/>
          </a:p>
        </p:txBody>
      </p:sp>
      <p:sp>
        <p:nvSpPr>
          <p:cNvPr id="16" name="Shape 14"/>
          <p:cNvSpPr/>
          <p:nvPr/>
        </p:nvSpPr>
        <p:spPr>
          <a:xfrm>
            <a:off x="731520" y="4069080"/>
            <a:ext cx="5212080" cy="2103120"/>
          </a:xfrm>
          <a:prstGeom prst="rect">
            <a:avLst/>
          </a:prstGeom>
          <a:solidFill>
            <a:srgbClr val="FFFFFF"/>
          </a:solidFill>
          <a:ln w="12700">
            <a:solidFill>
              <a:srgbClr val="E2E8F0"/>
            </a:solidFill>
            <a:prstDash val="solid"/>
          </a:ln>
        </p:spPr>
      </p:sp>
      <p:sp>
        <p:nvSpPr>
          <p:cNvPr id="17" name="Text 15"/>
          <p:cNvSpPr/>
          <p:nvPr/>
        </p:nvSpPr>
        <p:spPr>
          <a:xfrm>
            <a:off x="1005840" y="4251960"/>
            <a:ext cx="466344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MANDALAY CATEGORY REMEDIATION</a:t>
            </a:r>
            <a:endParaRPr lang="en-US" sz="1000" dirty="0"/>
          </a:p>
        </p:txBody>
      </p:sp>
      <p:sp>
        <p:nvSpPr>
          <p:cNvPr id="18" name="Text 16"/>
          <p:cNvSpPr/>
          <p:nvPr/>
        </p:nvSpPr>
        <p:spPr>
          <a:xfrm>
            <a:off x="1005840" y="4572000"/>
            <a:ext cx="4663440" cy="1371600"/>
          </a:xfrm>
          <a:prstGeom prst="rect">
            <a:avLst/>
          </a:prstGeom>
          <a:noFill/>
          <a:ln/>
        </p:spPr>
        <p:txBody>
          <a:bodyPr wrap="square" rtlCol="0" anchor="ctr"/>
          <a:lstStyle/>
          <a:p>
            <a:pPr marL="0" indent="0">
              <a:buNone/>
            </a:pPr>
            <a:r>
              <a:rPr lang="en-US" sz="1000" b="1" dirty="0">
                <a:solidFill>
                  <a:srgbClr val="0B130E"/>
                </a:solidFill>
                <a:latin typeface="Arial" pitchFamily="34" charset="0"/>
                <a:ea typeface="Arial" pitchFamily="34" charset="-122"/>
                <a:cs typeface="Arial" pitchFamily="34" charset="-120"/>
              </a:rPr>
              <a:t>• Food &amp; Beverages &amp; Fashion Accessories </a:t>
            </a:r>
            <a:r>
              <a:rPr lang="en-US" sz="1000" dirty="0">
                <a:solidFill>
                  <a:srgbClr val="64748B"/>
                </a:solidFill>
                <a:latin typeface="Arial" pitchFamily="34" charset="0"/>
                <a:ea typeface="Arial" pitchFamily="34" charset="-122"/>
                <a:cs typeface="Arial" pitchFamily="34" charset="-120"/>
              </a:rPr>
              <a:t>lagged behind peer branch run-rates in Mandalay.
</a:t>
            </a:r>
            <a:r>
              <a:rPr lang="en-US" sz="1000" b="1" dirty="0">
                <a:solidFill>
                  <a:srgbClr val="0B130E"/>
                </a:solidFill>
                <a:latin typeface="Arial" pitchFamily="34" charset="0"/>
                <a:ea typeface="Arial" pitchFamily="34" charset="-122"/>
                <a:cs typeface="Arial" pitchFamily="34" charset="-120"/>
              </a:rPr>
              <a:t>• Recommended Action: </a:t>
            </a:r>
            <a:r>
              <a:rPr lang="en-US" sz="1000" dirty="0">
                <a:solidFill>
                  <a:srgbClr val="64748B"/>
                </a:solidFill>
                <a:latin typeface="Arial" pitchFamily="34" charset="0"/>
                <a:ea typeface="Arial" pitchFamily="34" charset="-122"/>
                <a:cs typeface="Arial" pitchFamily="34" charset="-120"/>
              </a:rPr>
              <a:t>Audit supplier deliveries, local taste preferences, and test promotional bundles.</a:t>
            </a:r>
            <a:endParaRPr lang="en-US" sz="1000" dirty="0"/>
          </a:p>
        </p:txBody>
      </p:sp>
      <p:sp>
        <p:nvSpPr>
          <p:cNvPr id="19" name="Shape 17"/>
          <p:cNvSpPr/>
          <p:nvPr/>
        </p:nvSpPr>
        <p:spPr>
          <a:xfrm>
            <a:off x="6217920" y="4069080"/>
            <a:ext cx="5212080" cy="2103120"/>
          </a:xfrm>
          <a:prstGeom prst="rect">
            <a:avLst/>
          </a:prstGeom>
          <a:solidFill>
            <a:srgbClr val="FFFFFF"/>
          </a:solidFill>
          <a:ln w="12700">
            <a:solidFill>
              <a:srgbClr val="E2E8F0"/>
            </a:solidFill>
            <a:prstDash val="solid"/>
          </a:ln>
        </p:spPr>
      </p:sp>
      <p:sp>
        <p:nvSpPr>
          <p:cNvPr id="20" name="Text 18"/>
          <p:cNvSpPr/>
          <p:nvPr/>
        </p:nvSpPr>
        <p:spPr>
          <a:xfrm>
            <a:off x="6492240" y="4251960"/>
            <a:ext cx="466344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BRANCH C: HOME &amp; LIFESTYLE OPPORTUNITY</a:t>
            </a:r>
            <a:endParaRPr lang="en-US" sz="1000" dirty="0"/>
          </a:p>
        </p:txBody>
      </p:sp>
      <p:sp>
        <p:nvSpPr>
          <p:cNvPr id="21" name="Text 19"/>
          <p:cNvSpPr/>
          <p:nvPr/>
        </p:nvSpPr>
        <p:spPr>
          <a:xfrm>
            <a:off x="6492240" y="4572000"/>
            <a:ext cx="4663440" cy="1371600"/>
          </a:xfrm>
          <a:prstGeom prst="rect">
            <a:avLst/>
          </a:prstGeom>
          <a:noFill/>
          <a:ln/>
        </p:spPr>
        <p:txBody>
          <a:bodyPr wrap="square" rtlCol="0" anchor="ctr"/>
          <a:lstStyle/>
          <a:p>
            <a:pPr marL="0" indent="0">
              <a:buNone/>
            </a:pPr>
            <a:r>
              <a:rPr lang="en-US" sz="1000" b="1" dirty="0">
                <a:solidFill>
                  <a:srgbClr val="0B130E"/>
                </a:solidFill>
                <a:latin typeface="Arial" pitchFamily="34" charset="0"/>
                <a:ea typeface="Arial" pitchFamily="34" charset="-122"/>
                <a:cs typeface="Arial" pitchFamily="34" charset="-120"/>
              </a:rPr>
              <a:t>• Lowest Sales Line: </a:t>
            </a:r>
            <a:r>
              <a:rPr lang="en-US" sz="1000" dirty="0">
                <a:solidFill>
                  <a:srgbClr val="64748B"/>
                </a:solidFill>
                <a:latin typeface="Arial" pitchFamily="34" charset="0"/>
                <a:ea typeface="Arial" pitchFamily="34" charset="-122"/>
                <a:cs typeface="Arial" pitchFamily="34" charset="-120"/>
              </a:rPr>
              <a:t>Home &amp; Lifestyle recorded the lowest category sales within Branch C.
</a:t>
            </a:r>
            <a:r>
              <a:rPr lang="en-US" sz="1000" b="1" dirty="0">
                <a:solidFill>
                  <a:srgbClr val="0B130E"/>
                </a:solidFill>
                <a:latin typeface="Arial" pitchFamily="34" charset="0"/>
                <a:ea typeface="Arial" pitchFamily="34" charset="-122"/>
                <a:cs typeface="Arial" pitchFamily="34" charset="-120"/>
              </a:rPr>
              <a:t>• Recommended Action: </a:t>
            </a:r>
            <a:r>
              <a:rPr lang="en-US" sz="1000" dirty="0">
                <a:solidFill>
                  <a:srgbClr val="64748B"/>
                </a:solidFill>
                <a:latin typeface="Arial" pitchFamily="34" charset="0"/>
                <a:ea typeface="Arial" pitchFamily="34" charset="-122"/>
                <a:cs typeface="Arial" pitchFamily="34" charset="-120"/>
              </a:rPr>
              <a:t>Review shelf display space, inventory holding, and local household demand to capture missed margin.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PAYMENT CHANNELS</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Payment Method &amp; Transaction Economics</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Comparing Credit Card vs. E-wallet turnover and examining transaction behaviors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7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5212080" cy="2194560"/>
          </a:xfrm>
          <a:prstGeom prst="rect">
            <a:avLst/>
          </a:prstGeom>
          <a:solidFill>
            <a:srgbClr val="FFFFFF"/>
          </a:solidFill>
          <a:ln w="25400">
            <a:solidFill>
              <a:srgbClr val="10B981"/>
            </a:solidFill>
            <a:prstDash val="solid"/>
          </a:ln>
        </p:spPr>
      </p:sp>
      <p:sp>
        <p:nvSpPr>
          <p:cNvPr id="9" name="Text 7"/>
          <p:cNvSpPr/>
          <p:nvPr/>
        </p:nvSpPr>
        <p:spPr>
          <a:xfrm>
            <a:off x="1005840" y="1965960"/>
            <a:ext cx="466344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E-WALLET (HIGHER ADOPTION)</a:t>
            </a:r>
            <a:endParaRPr lang="en-US" sz="1000" dirty="0"/>
          </a:p>
        </p:txBody>
      </p:sp>
      <p:sp>
        <p:nvSpPr>
          <p:cNvPr id="10" name="Text 8"/>
          <p:cNvSpPr/>
          <p:nvPr/>
        </p:nvSpPr>
        <p:spPr>
          <a:xfrm>
            <a:off x="1005840" y="2286000"/>
            <a:ext cx="4663440" cy="457200"/>
          </a:xfrm>
          <a:prstGeom prst="rect">
            <a:avLst/>
          </a:prstGeom>
          <a:noFill/>
          <a:ln/>
        </p:spPr>
        <p:txBody>
          <a:bodyPr wrap="square" rtlCol="0" anchor="ctr"/>
          <a:lstStyle/>
          <a:p>
            <a:pPr marL="0" indent="0">
              <a:buNone/>
            </a:pPr>
            <a:r>
              <a:rPr lang="en-US" sz="1800" b="1" dirty="0">
                <a:solidFill>
                  <a:srgbClr val="0B130E"/>
                </a:solidFill>
                <a:latin typeface="Arial" pitchFamily="34" charset="0"/>
                <a:ea typeface="Arial" pitchFamily="34" charset="-122"/>
                <a:cs typeface="Arial" pitchFamily="34" charset="-120"/>
              </a:rPr>
              <a:t>109,993.11 Sales  |  345 Transactions</a:t>
            </a:r>
            <a:endParaRPr lang="en-US" sz="1800" dirty="0"/>
          </a:p>
        </p:txBody>
      </p:sp>
      <p:sp>
        <p:nvSpPr>
          <p:cNvPr id="11" name="Text 9"/>
          <p:cNvSpPr/>
          <p:nvPr/>
        </p:nvSpPr>
        <p:spPr>
          <a:xfrm>
            <a:off x="1005840" y="2788920"/>
            <a:ext cx="4663440" cy="1097280"/>
          </a:xfrm>
          <a:prstGeom prst="rect">
            <a:avLst/>
          </a:prstGeom>
          <a:noFill/>
          <a:ln/>
        </p:spPr>
        <p:txBody>
          <a:bodyPr wrap="square" rtlCol="0" anchor="ctr"/>
          <a:lstStyle/>
          <a:p>
            <a:pPr marL="0" indent="0">
              <a:buNone/>
            </a:pPr>
            <a:r>
              <a:rPr lang="en-US" sz="1100" b="1" dirty="0">
                <a:solidFill>
                  <a:srgbClr val="0B130E"/>
                </a:solidFill>
                <a:latin typeface="Arial" pitchFamily="34" charset="0"/>
                <a:ea typeface="Arial" pitchFamily="34" charset="-122"/>
                <a:cs typeface="Arial" pitchFamily="34" charset="-120"/>
              </a:rPr>
              <a:t>Average Ticket: </a:t>
            </a:r>
            <a:r>
              <a:rPr lang="en-US" sz="1100" b="1" dirty="0">
                <a:solidFill>
                  <a:srgbClr val="064E3B"/>
                </a:solidFill>
                <a:latin typeface="Arial" pitchFamily="34" charset="0"/>
                <a:ea typeface="Arial" pitchFamily="34" charset="-122"/>
                <a:cs typeface="Arial" pitchFamily="34" charset="-120"/>
              </a:rPr>
              <a:t>318.82 per transaction
</a:t>
            </a:r>
            <a:r>
              <a:rPr lang="en-US" sz="1000" dirty="0">
                <a:solidFill>
                  <a:srgbClr val="64748B"/>
                </a:solidFill>
                <a:latin typeface="Arial" pitchFamily="34" charset="0"/>
                <a:ea typeface="Arial" pitchFamily="34" charset="-122"/>
                <a:cs typeface="Arial" pitchFamily="34" charset="-120"/>
              </a:rPr>
              <a:t>E-wallet leads in both transaction frequency and total gross sales volume in the recorded dataset, representing the most frictionless checkout method.</a:t>
            </a:r>
            <a:endParaRPr lang="en-US" sz="1100" dirty="0"/>
          </a:p>
        </p:txBody>
      </p:sp>
      <p:sp>
        <p:nvSpPr>
          <p:cNvPr id="12" name="Shape 10"/>
          <p:cNvSpPr/>
          <p:nvPr/>
        </p:nvSpPr>
        <p:spPr>
          <a:xfrm>
            <a:off x="6217920" y="1783080"/>
            <a:ext cx="5212080" cy="2194560"/>
          </a:xfrm>
          <a:prstGeom prst="rect">
            <a:avLst/>
          </a:prstGeom>
          <a:solidFill>
            <a:srgbClr val="FFFFFF"/>
          </a:solidFill>
          <a:ln w="12700">
            <a:solidFill>
              <a:srgbClr val="E2E8F0"/>
            </a:solidFill>
            <a:prstDash val="solid"/>
          </a:ln>
        </p:spPr>
      </p:sp>
      <p:sp>
        <p:nvSpPr>
          <p:cNvPr id="13" name="Text 11"/>
          <p:cNvSpPr/>
          <p:nvPr/>
        </p:nvSpPr>
        <p:spPr>
          <a:xfrm>
            <a:off x="6492240" y="1965960"/>
            <a:ext cx="4663440" cy="27432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CREDIT CARD (HIGHER BASKET VALUE)</a:t>
            </a:r>
            <a:endParaRPr lang="en-US" sz="1000" dirty="0"/>
          </a:p>
        </p:txBody>
      </p:sp>
      <p:sp>
        <p:nvSpPr>
          <p:cNvPr id="14" name="Text 12"/>
          <p:cNvSpPr/>
          <p:nvPr/>
        </p:nvSpPr>
        <p:spPr>
          <a:xfrm>
            <a:off x="6492240" y="2286000"/>
            <a:ext cx="4663440" cy="457200"/>
          </a:xfrm>
          <a:prstGeom prst="rect">
            <a:avLst/>
          </a:prstGeom>
          <a:noFill/>
          <a:ln/>
        </p:spPr>
        <p:txBody>
          <a:bodyPr wrap="square" rtlCol="0" anchor="ctr"/>
          <a:lstStyle/>
          <a:p>
            <a:pPr marL="0" indent="0">
              <a:buNone/>
            </a:pPr>
            <a:r>
              <a:rPr lang="en-US" sz="1800" b="1" dirty="0">
                <a:solidFill>
                  <a:srgbClr val="0B130E"/>
                </a:solidFill>
                <a:latin typeface="Arial" pitchFamily="34" charset="0"/>
                <a:ea typeface="Arial" pitchFamily="34" charset="-122"/>
                <a:cs typeface="Arial" pitchFamily="34" charset="-120"/>
              </a:rPr>
              <a:t>100,767.07 Sales  |  311 Transactions</a:t>
            </a:r>
            <a:endParaRPr lang="en-US" sz="1800" dirty="0"/>
          </a:p>
        </p:txBody>
      </p:sp>
      <p:sp>
        <p:nvSpPr>
          <p:cNvPr id="15" name="Text 13"/>
          <p:cNvSpPr/>
          <p:nvPr/>
        </p:nvSpPr>
        <p:spPr>
          <a:xfrm>
            <a:off x="6492240" y="2788920"/>
            <a:ext cx="4663440" cy="1097280"/>
          </a:xfrm>
          <a:prstGeom prst="rect">
            <a:avLst/>
          </a:prstGeom>
          <a:noFill/>
          <a:ln/>
        </p:spPr>
        <p:txBody>
          <a:bodyPr wrap="square" rtlCol="0" anchor="ctr"/>
          <a:lstStyle/>
          <a:p>
            <a:pPr marL="0" indent="0">
              <a:buNone/>
            </a:pPr>
            <a:r>
              <a:rPr lang="en-US" sz="1100" b="1" dirty="0">
                <a:solidFill>
                  <a:srgbClr val="0B130E"/>
                </a:solidFill>
                <a:latin typeface="Arial" pitchFamily="34" charset="0"/>
                <a:ea typeface="Arial" pitchFamily="34" charset="-122"/>
                <a:cs typeface="Arial" pitchFamily="34" charset="-120"/>
              </a:rPr>
              <a:t>Average Ticket: </a:t>
            </a:r>
            <a:r>
              <a:rPr lang="en-US" sz="1100" b="1" dirty="0">
                <a:solidFill>
                  <a:srgbClr val="064E3B"/>
                </a:solidFill>
                <a:latin typeface="Arial" pitchFamily="34" charset="0"/>
                <a:ea typeface="Arial" pitchFamily="34" charset="-122"/>
                <a:cs typeface="Arial" pitchFamily="34" charset="-120"/>
              </a:rPr>
              <a:t>323.98 per transaction (+1.6% higher ticket)
</a:t>
            </a:r>
            <a:r>
              <a:rPr lang="en-US" sz="1000" dirty="0">
                <a:solidFill>
                  <a:srgbClr val="64748B"/>
                </a:solidFill>
                <a:latin typeface="Arial" pitchFamily="34" charset="0"/>
                <a:ea typeface="Arial" pitchFamily="34" charset="-122"/>
                <a:cs typeface="Arial" pitchFamily="34" charset="-120"/>
              </a:rPr>
              <a:t>Credit cards yield a slightly higher average purchase size, though with 34 fewer total transactions than E-wallets.</a:t>
            </a:r>
            <a:endParaRPr lang="en-US" sz="1100" dirty="0"/>
          </a:p>
        </p:txBody>
      </p:sp>
      <p:sp>
        <p:nvSpPr>
          <p:cNvPr id="17" name="Text 15"/>
          <p:cNvSpPr/>
          <p:nvPr/>
        </p:nvSpPr>
        <p:spPr>
          <a:xfrm>
            <a:off x="1005840" y="4343400"/>
            <a:ext cx="10149840" cy="274320"/>
          </a:xfrm>
          <a:prstGeom prst="rect">
            <a:avLst/>
          </a:prstGeom>
          <a:noFill/>
          <a:ln/>
        </p:spPr>
        <p:txBody>
          <a:bodyPr wrap="square" rtlCol="0" anchor="ctr"/>
          <a:lstStyle/>
          <a:p>
            <a:pPr marL="0" indent="0">
              <a:buNone/>
            </a:pPr>
            <a:r>
              <a:rPr lang="en-US" sz="1100" b="1" dirty="0">
                <a:solidFill>
                  <a:srgbClr val="92400E"/>
                </a:solidFill>
                <a:latin typeface="Arial" pitchFamily="34" charset="0"/>
                <a:ea typeface="Arial" pitchFamily="34" charset="-122"/>
                <a:cs typeface="Arial" pitchFamily="34" charset="-120"/>
              </a:rPr>
              <a:t>ANALYST RIGOR NOTE: DISTINGUISHING CORRELATION FROM CAUSATION</a:t>
            </a:r>
            <a:endParaRPr lang="en-US" sz="1100" dirty="0"/>
          </a:p>
        </p:txBody>
      </p:sp>
      <p:sp>
        <p:nvSpPr>
          <p:cNvPr id="18" name="Text 16"/>
          <p:cNvSpPr/>
          <p:nvPr/>
        </p:nvSpPr>
        <p:spPr>
          <a:xfrm>
            <a:off x="1005840" y="4663440"/>
            <a:ext cx="10149840" cy="1371600"/>
          </a:xfrm>
          <a:prstGeom prst="rect">
            <a:avLst/>
          </a:prstGeom>
          <a:noFill/>
          <a:ln/>
        </p:spPr>
        <p:txBody>
          <a:bodyPr wrap="square" rtlCol="0" anchor="ctr"/>
          <a:lstStyle/>
          <a:p>
            <a:pPr marL="0" indent="0">
              <a:buNone/>
            </a:pPr>
            <a:r>
              <a:rPr lang="en-US" sz="1000" b="1" dirty="0">
                <a:solidFill>
                  <a:srgbClr val="92400E"/>
                </a:solidFill>
                <a:latin typeface="Arial" pitchFamily="34" charset="0"/>
                <a:ea typeface="Arial" pitchFamily="34" charset="-122"/>
                <a:cs typeface="Arial" pitchFamily="34" charset="-120"/>
              </a:rPr>
              <a:t>• Non-Causal Finding: </a:t>
            </a:r>
            <a:r>
              <a:rPr lang="en-US" sz="1000" dirty="0">
                <a:solidFill>
                  <a:srgbClr val="78350F"/>
                </a:solidFill>
                <a:latin typeface="Arial" pitchFamily="34" charset="0"/>
                <a:ea typeface="Arial" pitchFamily="34" charset="-122"/>
                <a:cs typeface="Arial" pitchFamily="34" charset="-120"/>
              </a:rPr>
              <a:t>The fact that E-wallet generated more aggregate sales does NOT imply that payment method choice directly causes customers to spend more money.
</a:t>
            </a:r>
            <a:r>
              <a:rPr lang="en-US" sz="1000" b="1" dirty="0">
                <a:solidFill>
                  <a:srgbClr val="92400E"/>
                </a:solidFill>
                <a:latin typeface="Arial" pitchFamily="34" charset="0"/>
                <a:ea typeface="Arial" pitchFamily="34" charset="-122"/>
                <a:cs typeface="Arial" pitchFamily="34" charset="-120"/>
              </a:rPr>
              <a:t>• Strategic Recommendation: </a:t>
            </a:r>
            <a:r>
              <a:rPr lang="en-US" sz="1000" dirty="0">
                <a:solidFill>
                  <a:srgbClr val="78350F"/>
                </a:solidFill>
                <a:latin typeface="Arial" pitchFamily="34" charset="0"/>
                <a:ea typeface="Arial" pitchFamily="34" charset="-122"/>
                <a:cs typeface="Arial" pitchFamily="34" charset="-120"/>
              </a:rPr>
              <a:t>Investigate ways to make credit card usage more attractive (e.g., bank co-branded points, 0% installment on electronics) without assuming forced payment switching will alter spending habits.
</a:t>
            </a:r>
            <a:r>
              <a:rPr lang="en-US" sz="1000" b="1" dirty="0">
                <a:solidFill>
                  <a:srgbClr val="92400E"/>
                </a:solidFill>
                <a:latin typeface="Arial" pitchFamily="34" charset="0"/>
                <a:ea typeface="Arial" pitchFamily="34" charset="-122"/>
                <a:cs typeface="Arial" pitchFamily="34" charset="-120"/>
              </a:rPr>
              <a:t>• Operational Focus: </a:t>
            </a:r>
            <a:r>
              <a:rPr lang="en-US" sz="1000" dirty="0">
                <a:solidFill>
                  <a:srgbClr val="78350F"/>
                </a:solidFill>
                <a:latin typeface="Arial" pitchFamily="34" charset="0"/>
                <a:ea typeface="Arial" pitchFamily="34" charset="-122"/>
                <a:cs typeface="Arial" pitchFamily="34" charset="-120"/>
              </a:rPr>
              <a:t>Maintain seamless uptime for both POS terminal networks to prevent any payment-related checkout abandonments.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MONTHLY TRENDS</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Monthly Sales Trends &amp; Seasonality</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Tracing Q1 revenue patterns and isolating the February contraction</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8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graphicFrame>
        <p:nvGraphicFramePr>
          <p:cNvPr id="8" name="Chart 0"/>
          <p:cNvGraphicFramePr/>
          <p:nvPr/>
        </p:nvGraphicFramePr>
        <p:xfrm>
          <a:off x="731520" y="1783080"/>
          <a:ext cx="59436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949440" y="1783080"/>
            <a:ext cx="4480560" cy="4389120"/>
          </a:xfrm>
          <a:prstGeom prst="rect">
            <a:avLst/>
          </a:prstGeom>
          <a:solidFill>
            <a:srgbClr val="FFFFFF"/>
          </a:solidFill>
          <a:ln w="12700">
            <a:solidFill>
              <a:srgbClr val="E2E8F0"/>
            </a:solidFill>
            <a:prstDash val="solid"/>
          </a:ln>
        </p:spPr>
      </p:sp>
      <p:sp>
        <p:nvSpPr>
          <p:cNvPr id="10" name="Text 7"/>
          <p:cNvSpPr/>
          <p:nvPr/>
        </p:nvSpPr>
        <p:spPr>
          <a:xfrm>
            <a:off x="7223760" y="1965960"/>
            <a:ext cx="3931920" cy="274320"/>
          </a:xfrm>
          <a:prstGeom prst="rect">
            <a:avLst/>
          </a:prstGeom>
          <a:noFill/>
          <a:ln/>
        </p:spPr>
        <p:txBody>
          <a:bodyPr wrap="square" rtlCol="0" anchor="ctr"/>
          <a:lstStyle/>
          <a:p>
            <a:pPr marL="0" indent="0">
              <a:buNone/>
            </a:pPr>
            <a:r>
              <a:rPr lang="en-US" sz="1100" b="1" dirty="0">
                <a:solidFill>
                  <a:srgbClr val="DC2626"/>
                </a:solidFill>
                <a:latin typeface="Arial" pitchFamily="34" charset="0"/>
                <a:ea typeface="Arial" pitchFamily="34" charset="-122"/>
                <a:cs typeface="Arial" pitchFamily="34" charset="-120"/>
              </a:rPr>
              <a:t>FEBRUARY DECLINE DIAGNOSTICS</a:t>
            </a:r>
            <a:endParaRPr lang="en-US" sz="1100" dirty="0"/>
          </a:p>
        </p:txBody>
      </p:sp>
      <p:sp>
        <p:nvSpPr>
          <p:cNvPr id="11" name="Text 8"/>
          <p:cNvSpPr/>
          <p:nvPr/>
        </p:nvSpPr>
        <p:spPr>
          <a:xfrm>
            <a:off x="7223760" y="2331720"/>
            <a:ext cx="3931920" cy="3657600"/>
          </a:xfrm>
          <a:prstGeom prst="rect">
            <a:avLst/>
          </a:prstGeom>
          <a:noFill/>
          <a:ln/>
        </p:spPr>
        <p:txBody>
          <a:bodyPr wrap="square" rtlCol="0" anchor="ctr"/>
          <a:lstStyle/>
          <a:p>
            <a:pPr marL="0" indent="0">
              <a:buNone/>
            </a:pPr>
            <a:r>
              <a:rPr lang="en-US" sz="1000" b="1" dirty="0">
                <a:solidFill>
                  <a:srgbClr val="0B130E"/>
                </a:solidFill>
                <a:latin typeface="Arial" pitchFamily="34" charset="0"/>
                <a:ea typeface="Arial" pitchFamily="34" charset="-122"/>
                <a:cs typeface="Arial" pitchFamily="34" charset="-120"/>
              </a:rPr>
              <a:t>• January Peak (116,291.87): </a:t>
            </a:r>
            <a:r>
              <a:rPr lang="en-US" sz="1000" dirty="0">
                <a:solidFill>
                  <a:srgbClr val="64748B"/>
                </a:solidFill>
                <a:latin typeface="Arial" pitchFamily="34" charset="0"/>
                <a:ea typeface="Arial" pitchFamily="34" charset="-122"/>
                <a:cs typeface="Arial" pitchFamily="34" charset="-120"/>
              </a:rPr>
              <a:t>Benefited from post-holiday restocking and strong discretionary purchasing.
</a:t>
            </a:r>
            <a:r>
              <a:rPr lang="en-US" sz="1000" b="1" dirty="0">
                <a:solidFill>
                  <a:srgbClr val="DC2626"/>
                </a:solidFill>
                <a:latin typeface="Arial" pitchFamily="34" charset="0"/>
                <a:ea typeface="Arial" pitchFamily="34" charset="-122"/>
                <a:cs typeface="Arial" pitchFamily="34" charset="-120"/>
              </a:rPr>
              <a:t>• February Dip (97,219.37): </a:t>
            </a:r>
            <a:r>
              <a:rPr lang="en-US" sz="1000" dirty="0">
                <a:solidFill>
                  <a:srgbClr val="64748B"/>
                </a:solidFill>
                <a:latin typeface="Arial" pitchFamily="34" charset="0"/>
                <a:ea typeface="Arial" pitchFamily="34" charset="-122"/>
                <a:cs typeface="Arial" pitchFamily="34" charset="-120"/>
              </a:rPr>
              <a:t>Recorded the lowest monthly sales in the dataset (-19,072.50 drop from January).
</a:t>
            </a:r>
            <a:r>
              <a:rPr lang="en-US" sz="1000" b="1" dirty="0">
                <a:solidFill>
                  <a:srgbClr val="0B130E"/>
                </a:solidFill>
                <a:latin typeface="Arial" pitchFamily="34" charset="0"/>
                <a:ea typeface="Arial" pitchFamily="34" charset="-122"/>
                <a:cs typeface="Arial" pitchFamily="34" charset="-120"/>
              </a:rPr>
              <a:t>• Electronics Accessories Contraction: </a:t>
            </a:r>
            <a:r>
              <a:rPr lang="en-US" sz="1000" dirty="0">
                <a:solidFill>
                  <a:srgbClr val="64748B"/>
                </a:solidFill>
                <a:latin typeface="Arial" pitchFamily="34" charset="0"/>
                <a:ea typeface="Arial" pitchFamily="34" charset="-122"/>
                <a:cs typeface="Arial" pitchFamily="34" charset="-120"/>
              </a:rPr>
              <a:t>Electronic Accessories showed a pronounced sales decline in February.
</a:t>
            </a:r>
            <a:r>
              <a:rPr lang="en-US" sz="1000" b="1" dirty="0">
                <a:solidFill>
                  <a:srgbClr val="064E3B"/>
                </a:solidFill>
                <a:latin typeface="Arial" pitchFamily="34" charset="0"/>
                <a:ea typeface="Arial" pitchFamily="34" charset="-122"/>
                <a:cs typeface="Arial" pitchFamily="34" charset="-120"/>
              </a:rPr>
              <a:t>• Rigorous Investigative Protocol: </a:t>
            </a:r>
            <a:r>
              <a:rPr lang="en-US" sz="1000" dirty="0">
                <a:solidFill>
                  <a:srgbClr val="64748B"/>
                </a:solidFill>
                <a:latin typeface="Arial" pitchFamily="34" charset="0"/>
                <a:ea typeface="Arial" pitchFamily="34" charset="-122"/>
                <a:cs typeface="Arial" pitchFamily="34" charset="-120"/>
              </a:rPr>
              <a:t>Before concluding consumer demand simply evaporated, management must investigate supplier price changes, inventory stockouts, marketing pause, and transaction volumes.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TIME ANALYSIS</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Time-of-Day Revenue &amp; Traffic Realization</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Empirical morning vs. evening sales disparity and store operational adjustments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9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graphicFrame>
        <p:nvGraphicFramePr>
          <p:cNvPr id="8" name="Chart 0"/>
          <p:cNvGraphicFramePr/>
          <p:nvPr/>
        </p:nvGraphicFramePr>
        <p:xfrm>
          <a:off x="731520" y="1783080"/>
          <a:ext cx="521208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217920" y="1783080"/>
            <a:ext cx="5212080" cy="4389120"/>
          </a:xfrm>
          <a:prstGeom prst="rect">
            <a:avLst/>
          </a:prstGeom>
          <a:solidFill>
            <a:srgbClr val="FFFFFF"/>
          </a:solidFill>
          <a:ln w="12700">
            <a:solidFill>
              <a:srgbClr val="E2E8F0"/>
            </a:solidFill>
            <a:prstDash val="solid"/>
          </a:ln>
        </p:spPr>
      </p:sp>
      <p:sp>
        <p:nvSpPr>
          <p:cNvPr id="10" name="Text 7"/>
          <p:cNvSpPr/>
          <p:nvPr/>
        </p:nvSpPr>
        <p:spPr>
          <a:xfrm>
            <a:off x="6492240" y="1965960"/>
            <a:ext cx="4663440" cy="274320"/>
          </a:xfrm>
          <a:prstGeom prst="rect">
            <a:avLst/>
          </a:prstGeom>
          <a:noFill/>
          <a:ln/>
        </p:spPr>
        <p:txBody>
          <a:bodyPr wrap="square" rtlCol="0" anchor="ctr"/>
          <a:lstStyle/>
          <a:p>
            <a:pPr marL="0" indent="0">
              <a:buNone/>
            </a:pPr>
            <a:r>
              <a:rPr lang="en-US" sz="1100" b="1" dirty="0">
                <a:solidFill>
                  <a:srgbClr val="064E3B"/>
                </a:solidFill>
                <a:latin typeface="Arial" pitchFamily="34" charset="0"/>
                <a:ea typeface="Arial" pitchFamily="34" charset="-122"/>
                <a:cs typeface="Arial" pitchFamily="34" charset="-120"/>
              </a:rPr>
              <a:t>SUBSTANTIAL REVENUE DISPARITY (~3.6X)</a:t>
            </a:r>
            <a:endParaRPr lang="en-US" sz="1100" dirty="0"/>
          </a:p>
        </p:txBody>
      </p:sp>
      <p:sp>
        <p:nvSpPr>
          <p:cNvPr id="11" name="Text 8"/>
          <p:cNvSpPr/>
          <p:nvPr/>
        </p:nvSpPr>
        <p:spPr>
          <a:xfrm>
            <a:off x="6492240" y="2331720"/>
            <a:ext cx="4663440" cy="3657600"/>
          </a:xfrm>
          <a:prstGeom prst="rect">
            <a:avLst/>
          </a:prstGeom>
          <a:noFill/>
          <a:ln/>
        </p:spPr>
        <p:txBody>
          <a:bodyPr wrap="square" rtlCol="0" anchor="ctr"/>
          <a:lstStyle/>
          <a:p>
            <a:pPr marL="0" indent="0">
              <a:buNone/>
            </a:pPr>
            <a:r>
              <a:rPr lang="en-US" sz="1100" b="1" dirty="0">
                <a:solidFill>
                  <a:srgbClr val="64748B"/>
                </a:solidFill>
                <a:latin typeface="Arial" pitchFamily="34" charset="0"/>
                <a:ea typeface="Arial" pitchFamily="34" charset="-122"/>
                <a:cs typeface="Arial" pitchFamily="34" charset="-120"/>
              </a:rPr>
              <a:t>• Morning Sales: 31,421.48 (21.7% share)
</a:t>
            </a:r>
            <a:r>
              <a:rPr lang="en-US" sz="1100" b="1" dirty="0">
                <a:solidFill>
                  <a:srgbClr val="059669"/>
                </a:solidFill>
                <a:latin typeface="Arial" pitchFamily="34" charset="0"/>
                <a:ea typeface="Arial" pitchFamily="34" charset="-122"/>
                <a:cs typeface="Arial" pitchFamily="34" charset="-120"/>
              </a:rPr>
              <a:t>• Evening Sales: 113,144.60 (78.3% share)
</a:t>
            </a:r>
            <a:r>
              <a:rPr lang="en-US" sz="1100" b="1" dirty="0">
                <a:solidFill>
                  <a:srgbClr val="0B130E"/>
                </a:solidFill>
                <a:latin typeface="Arial" pitchFamily="34" charset="0"/>
                <a:ea typeface="Arial" pitchFamily="34" charset="-122"/>
                <a:cs typeface="Arial" pitchFamily="34" charset="-120"/>
              </a:rPr>
              <a:t>Operational &amp; Merchandising Recommendations:
</a:t>
            </a:r>
            <a:r>
              <a:rPr lang="en-US" sz="1000" b="1" dirty="0">
                <a:solidFill>
                  <a:srgbClr val="0B130E"/>
                </a:solidFill>
                <a:latin typeface="Arial" pitchFamily="34" charset="0"/>
                <a:ea typeface="Arial" pitchFamily="34" charset="-122"/>
                <a:cs typeface="Arial" pitchFamily="34" charset="-120"/>
              </a:rPr>
              <a:t>1. Morning Promotion Testing: </a:t>
            </a:r>
            <a:r>
              <a:rPr lang="en-US" sz="1000" dirty="0">
                <a:solidFill>
                  <a:srgbClr val="64748B"/>
                </a:solidFill>
                <a:latin typeface="Arial" pitchFamily="34" charset="0"/>
                <a:ea typeface="Arial" pitchFamily="34" charset="-122"/>
                <a:cs typeface="Arial" pitchFamily="34" charset="-120"/>
              </a:rPr>
              <a:t>Pilot targeted early-bird grocery promotions and fresh bakery breakfast combos to draw footfall.
</a:t>
            </a:r>
            <a:r>
              <a:rPr lang="en-US" sz="1000" b="1" dirty="0">
                <a:solidFill>
                  <a:srgbClr val="0B130E"/>
                </a:solidFill>
                <a:latin typeface="Arial" pitchFamily="34" charset="0"/>
                <a:ea typeface="Arial" pitchFamily="34" charset="-122"/>
                <a:cs typeface="Arial" pitchFamily="34" charset="-120"/>
              </a:rPr>
              <a:t>2. Stock Availability in Rush Hours: </a:t>
            </a:r>
            <a:r>
              <a:rPr lang="en-US" sz="1000" dirty="0">
                <a:solidFill>
                  <a:srgbClr val="64748B"/>
                </a:solidFill>
                <a:latin typeface="Arial" pitchFamily="34" charset="0"/>
                <a:ea typeface="Arial" pitchFamily="34" charset="-122"/>
                <a:cs typeface="Arial" pitchFamily="34" charset="-120"/>
              </a:rPr>
              <a:t>Ensure high-velocity Food and Beverage shelves are restocked prior to 17:00 evening rush.
</a:t>
            </a:r>
            <a:r>
              <a:rPr lang="en-US" sz="1000" b="1" dirty="0">
                <a:solidFill>
                  <a:srgbClr val="0B130E"/>
                </a:solidFill>
                <a:latin typeface="Arial" pitchFamily="34" charset="0"/>
                <a:ea typeface="Arial" pitchFamily="34" charset="-122"/>
                <a:cs typeface="Arial" pitchFamily="34" charset="-120"/>
              </a:rPr>
              <a:t>3. Staffing &amp; Service Speed Review: </a:t>
            </a:r>
            <a:r>
              <a:rPr lang="en-US" sz="1000" dirty="0">
                <a:solidFill>
                  <a:srgbClr val="64748B"/>
                </a:solidFill>
                <a:latin typeface="Arial" pitchFamily="34" charset="0"/>
                <a:ea typeface="Arial" pitchFamily="34" charset="-122"/>
                <a:cs typeface="Arial" pitchFamily="34" charset="-120"/>
              </a:rPr>
              <a:t>Review checkout counter staffing during quieter periods versus peak hours without jumping to premature service conclusions.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CUSTOMER SEGMENTATION</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Customer Behavior &amp; Demographic Segmentation</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Observed patterns across membership, payment choice, gender, and category demand</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10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3383280" cy="4389120"/>
          </a:xfrm>
          <a:prstGeom prst="rect">
            <a:avLst/>
          </a:prstGeom>
          <a:solidFill>
            <a:srgbClr val="FFFFFF"/>
          </a:solidFill>
          <a:ln w="12700">
            <a:solidFill>
              <a:srgbClr val="E2E8F0"/>
            </a:solidFill>
            <a:prstDash val="solid"/>
          </a:ln>
        </p:spPr>
      </p:sp>
      <p:sp>
        <p:nvSpPr>
          <p:cNvPr id="9" name="Text 7"/>
          <p:cNvSpPr/>
          <p:nvPr/>
        </p:nvSpPr>
        <p:spPr>
          <a:xfrm>
            <a:off x="960120" y="1965960"/>
            <a:ext cx="292608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OBSERVATION 01</a:t>
            </a:r>
            <a:endParaRPr lang="en-US" sz="1000" dirty="0"/>
          </a:p>
        </p:txBody>
      </p:sp>
      <p:sp>
        <p:nvSpPr>
          <p:cNvPr id="10" name="Text 8"/>
          <p:cNvSpPr/>
          <p:nvPr/>
        </p:nvSpPr>
        <p:spPr>
          <a:xfrm>
            <a:off x="9601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Payment Preference by Loyalty Tier</a:t>
            </a:r>
            <a:endParaRPr lang="en-US" sz="1400" dirty="0"/>
          </a:p>
        </p:txBody>
      </p:sp>
      <p:sp>
        <p:nvSpPr>
          <p:cNvPr id="11" name="Shape 9"/>
          <p:cNvSpPr/>
          <p:nvPr/>
        </p:nvSpPr>
        <p:spPr>
          <a:xfrm>
            <a:off x="960120" y="2880360"/>
            <a:ext cx="2926080" cy="640080"/>
          </a:xfrm>
          <a:prstGeom prst="rect">
            <a:avLst/>
          </a:prstGeom>
          <a:solidFill>
            <a:srgbClr val="ECFDF5"/>
          </a:solidFill>
          <a:ln/>
        </p:spPr>
      </p:sp>
      <p:sp>
        <p:nvSpPr>
          <p:cNvPr id="12" name="Text 10"/>
          <p:cNvSpPr/>
          <p:nvPr/>
        </p:nvSpPr>
        <p:spPr>
          <a:xfrm>
            <a:off x="1051560" y="2971800"/>
            <a:ext cx="2743200" cy="45720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Members: Credit Cards  |  Normal: Cash</a:t>
            </a:r>
            <a:endParaRPr lang="en-US" sz="1000" dirty="0"/>
          </a:p>
        </p:txBody>
      </p:sp>
      <p:sp>
        <p:nvSpPr>
          <p:cNvPr id="13" name="Text 11"/>
          <p:cNvSpPr/>
          <p:nvPr/>
        </p:nvSpPr>
        <p:spPr>
          <a:xfrm>
            <a:off x="960120" y="3657600"/>
            <a:ext cx="2926080" cy="22860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Registered Members exhibit higher credit card usage for rewards and convenience, while Normal walk-in customers disproportionately settle via Cash. Loyalty onboarding represents an opportunity to shift cash shoppers to digital tracking.</a:t>
            </a:r>
            <a:endParaRPr lang="en-US" sz="1000" dirty="0"/>
          </a:p>
        </p:txBody>
      </p:sp>
      <p:sp>
        <p:nvSpPr>
          <p:cNvPr id="14" name="Shape 12"/>
          <p:cNvSpPr/>
          <p:nvPr/>
        </p:nvSpPr>
        <p:spPr>
          <a:xfrm>
            <a:off x="4389120" y="1783080"/>
            <a:ext cx="3383280" cy="4389120"/>
          </a:xfrm>
          <a:prstGeom prst="rect">
            <a:avLst/>
          </a:prstGeom>
          <a:solidFill>
            <a:srgbClr val="FFFFFF"/>
          </a:solidFill>
          <a:ln w="12700">
            <a:solidFill>
              <a:srgbClr val="E2E8F0"/>
            </a:solidFill>
            <a:prstDash val="solid"/>
          </a:ln>
        </p:spPr>
      </p:sp>
      <p:sp>
        <p:nvSpPr>
          <p:cNvPr id="15" name="Text 13"/>
          <p:cNvSpPr/>
          <p:nvPr/>
        </p:nvSpPr>
        <p:spPr>
          <a:xfrm>
            <a:off x="4617720" y="1965960"/>
            <a:ext cx="292608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OBSERVATION 02</a:t>
            </a:r>
            <a:endParaRPr lang="en-US" sz="1000" dirty="0"/>
          </a:p>
        </p:txBody>
      </p:sp>
      <p:sp>
        <p:nvSpPr>
          <p:cNvPr id="16" name="Text 14"/>
          <p:cNvSpPr/>
          <p:nvPr/>
        </p:nvSpPr>
        <p:spPr>
          <a:xfrm>
            <a:off x="46177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Gender Demographic Distribution</a:t>
            </a:r>
            <a:endParaRPr lang="en-US" sz="1400" dirty="0"/>
          </a:p>
        </p:txBody>
      </p:sp>
      <p:sp>
        <p:nvSpPr>
          <p:cNvPr id="17" name="Shape 15"/>
          <p:cNvSpPr/>
          <p:nvPr/>
        </p:nvSpPr>
        <p:spPr>
          <a:xfrm>
            <a:off x="4617720" y="2880360"/>
            <a:ext cx="2926080" cy="640080"/>
          </a:xfrm>
          <a:prstGeom prst="rect">
            <a:avLst/>
          </a:prstGeom>
          <a:solidFill>
            <a:srgbClr val="ECFDF5"/>
          </a:solidFill>
          <a:ln/>
        </p:spPr>
      </p:sp>
      <p:sp>
        <p:nvSpPr>
          <p:cNvPr id="18" name="Text 16"/>
          <p:cNvSpPr/>
          <p:nvPr/>
        </p:nvSpPr>
        <p:spPr>
          <a:xfrm>
            <a:off x="4709160" y="2971800"/>
            <a:ext cx="2743200" cy="45720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Male Members &lt; Female Members</a:t>
            </a:r>
            <a:endParaRPr lang="en-US" sz="1000" dirty="0"/>
          </a:p>
        </p:txBody>
      </p:sp>
      <p:sp>
        <p:nvSpPr>
          <p:cNvPr id="19" name="Text 17"/>
          <p:cNvSpPr/>
          <p:nvPr/>
        </p:nvSpPr>
        <p:spPr>
          <a:xfrm>
            <a:off x="4617720" y="3657600"/>
            <a:ext cx="2926080" cy="22860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The analyzed dataset confirms fewer male members than female members across branches. Retention and loyalty communications should be customized to close this membership participation gap.</a:t>
            </a:r>
            <a:endParaRPr lang="en-US" sz="1000" dirty="0"/>
          </a:p>
        </p:txBody>
      </p:sp>
      <p:sp>
        <p:nvSpPr>
          <p:cNvPr id="20" name="Shape 18"/>
          <p:cNvSpPr/>
          <p:nvPr/>
        </p:nvSpPr>
        <p:spPr>
          <a:xfrm>
            <a:off x="8046720" y="1783080"/>
            <a:ext cx="3383280" cy="4389120"/>
          </a:xfrm>
          <a:prstGeom prst="rect">
            <a:avLst/>
          </a:prstGeom>
          <a:solidFill>
            <a:srgbClr val="FFFFFF"/>
          </a:solidFill>
          <a:ln w="12700">
            <a:solidFill>
              <a:srgbClr val="E2E8F0"/>
            </a:solidFill>
            <a:prstDash val="solid"/>
          </a:ln>
        </p:spPr>
      </p:sp>
      <p:sp>
        <p:nvSpPr>
          <p:cNvPr id="21" name="Text 19"/>
          <p:cNvSpPr/>
          <p:nvPr/>
        </p:nvSpPr>
        <p:spPr>
          <a:xfrm>
            <a:off x="8275320" y="1965960"/>
            <a:ext cx="292608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OBSERVATION 03</a:t>
            </a:r>
            <a:endParaRPr lang="en-US" sz="1000" dirty="0"/>
          </a:p>
        </p:txBody>
      </p:sp>
      <p:sp>
        <p:nvSpPr>
          <p:cNvPr id="22" name="Text 20"/>
          <p:cNvSpPr/>
          <p:nvPr/>
        </p:nvSpPr>
        <p:spPr>
          <a:xfrm>
            <a:off x="82753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Category-Month Anomaly</a:t>
            </a:r>
            <a:endParaRPr lang="en-US" sz="1400" dirty="0"/>
          </a:p>
        </p:txBody>
      </p:sp>
      <p:sp>
        <p:nvSpPr>
          <p:cNvPr id="23" name="Shape 21"/>
          <p:cNvSpPr/>
          <p:nvPr/>
        </p:nvSpPr>
        <p:spPr>
          <a:xfrm>
            <a:off x="8275320" y="2880360"/>
            <a:ext cx="2926080" cy="640080"/>
          </a:xfrm>
          <a:prstGeom prst="rect">
            <a:avLst/>
          </a:prstGeom>
          <a:solidFill>
            <a:srgbClr val="ECFDF5"/>
          </a:solidFill>
          <a:ln/>
        </p:spPr>
      </p:sp>
      <p:sp>
        <p:nvSpPr>
          <p:cNvPr id="24" name="Text 22"/>
          <p:cNvSpPr/>
          <p:nvPr/>
        </p:nvSpPr>
        <p:spPr>
          <a:xfrm>
            <a:off x="8366760" y="2971800"/>
            <a:ext cx="2743200" cy="45720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Female Sales in Health &amp; Beauty Low in March</a:t>
            </a:r>
            <a:endParaRPr lang="en-US" sz="1000" dirty="0"/>
          </a:p>
        </p:txBody>
      </p:sp>
      <p:sp>
        <p:nvSpPr>
          <p:cNvPr id="25" name="Text 23"/>
          <p:cNvSpPr/>
          <p:nvPr/>
        </p:nvSpPr>
        <p:spPr>
          <a:xfrm>
            <a:off x="8275320" y="3657600"/>
            <a:ext cx="2926080" cy="22860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Female transaction volume in Health and Beauty contracted notably during March. Management should segment by customer type, gender, and month to evaluate if stockouts or competitor promos caused this dip.</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BRANCH DEEP DIVE</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Yangon Evening Sales Dynamics &amp; Diagnostic Framework</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Addressing reported lower evening performance in Yangon through structured hypothesis testing</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11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5212080" cy="4389120"/>
          </a:xfrm>
          <a:prstGeom prst="rect">
            <a:avLst/>
          </a:prstGeom>
          <a:solidFill>
            <a:srgbClr val="FFFFFF"/>
          </a:solidFill>
          <a:ln w="12700">
            <a:solidFill>
              <a:srgbClr val="E2E8F0"/>
            </a:solidFill>
            <a:prstDash val="solid"/>
          </a:ln>
        </p:spPr>
      </p:sp>
      <p:sp>
        <p:nvSpPr>
          <p:cNvPr id="9" name="Text 7"/>
          <p:cNvSpPr/>
          <p:nvPr/>
        </p:nvSpPr>
        <p:spPr>
          <a:xfrm>
            <a:off x="1005840" y="1965960"/>
            <a:ext cx="4663440" cy="274320"/>
          </a:xfrm>
          <a:prstGeom prst="rect">
            <a:avLst/>
          </a:prstGeom>
          <a:noFill/>
          <a:ln/>
        </p:spPr>
        <p:txBody>
          <a:bodyPr wrap="square" rtlCol="0" anchor="ctr"/>
          <a:lstStyle/>
          <a:p>
            <a:pPr marL="0" indent="0">
              <a:buNone/>
            </a:pPr>
            <a:r>
              <a:rPr lang="en-US" sz="1000" b="1" dirty="0">
                <a:solidFill>
                  <a:srgbClr val="DC2626"/>
                </a:solidFill>
                <a:latin typeface="Arial" pitchFamily="34" charset="0"/>
                <a:ea typeface="Arial" pitchFamily="34" charset="-122"/>
                <a:cs typeface="Arial" pitchFamily="34" charset="-120"/>
              </a:rPr>
              <a:t>THE OBSERVED FINDING</a:t>
            </a:r>
            <a:endParaRPr lang="en-US" sz="1000" dirty="0"/>
          </a:p>
        </p:txBody>
      </p:sp>
      <p:sp>
        <p:nvSpPr>
          <p:cNvPr id="10" name="Text 8"/>
          <p:cNvSpPr/>
          <p:nvPr/>
        </p:nvSpPr>
        <p:spPr>
          <a:xfrm>
            <a:off x="1005840" y="2240280"/>
            <a:ext cx="4663440" cy="411480"/>
          </a:xfrm>
          <a:prstGeom prst="rect">
            <a:avLst/>
          </a:prstGeom>
          <a:noFill/>
          <a:ln/>
        </p:spPr>
        <p:txBody>
          <a:bodyPr wrap="square" rtlCol="0" anchor="ctr"/>
          <a:lstStyle/>
          <a:p>
            <a:pPr marL="0" indent="0">
              <a:buNone/>
            </a:pPr>
            <a:r>
              <a:rPr lang="en-US" sz="1600" b="1" dirty="0">
                <a:solidFill>
                  <a:srgbClr val="0B130E"/>
                </a:solidFill>
                <a:latin typeface="Arial" pitchFamily="34" charset="0"/>
                <a:ea typeface="Arial" pitchFamily="34" charset="-122"/>
                <a:cs typeface="Arial" pitchFamily="34" charset="-120"/>
              </a:rPr>
              <a:t>Yangon Reported Lower Evening Sales</a:t>
            </a:r>
            <a:endParaRPr lang="en-US" sz="1600" dirty="0"/>
          </a:p>
        </p:txBody>
      </p:sp>
      <p:sp>
        <p:nvSpPr>
          <p:cNvPr id="11" name="Text 9"/>
          <p:cNvSpPr/>
          <p:nvPr/>
        </p:nvSpPr>
        <p:spPr>
          <a:xfrm>
            <a:off x="1005840" y="2743200"/>
            <a:ext cx="4663440" cy="320040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 While evening hours dominate total chain-wide sales, Yangon exhibits lower evening performance relative to sister branches.
• As the largest commercial hub, Yangon should theoretically generate substantial after-work grocery footfall.
• Rather than assuming brand disinterest, we require an empirical diagnostic workflow to isolate operational choke points.</a:t>
            </a:r>
            <a:endParaRPr lang="en-US" sz="1000" dirty="0"/>
          </a:p>
        </p:txBody>
      </p:sp>
      <p:sp>
        <p:nvSpPr>
          <p:cNvPr id="12" name="Shape 10"/>
          <p:cNvSpPr/>
          <p:nvPr/>
        </p:nvSpPr>
        <p:spPr>
          <a:xfrm>
            <a:off x="6217920" y="1783080"/>
            <a:ext cx="5212080" cy="4389120"/>
          </a:xfrm>
          <a:prstGeom prst="rect">
            <a:avLst/>
          </a:prstGeom>
          <a:solidFill>
            <a:srgbClr val="ECFDF5"/>
          </a:solidFill>
          <a:ln w="12700">
            <a:solidFill>
              <a:srgbClr val="10B981"/>
            </a:solidFill>
            <a:prstDash val="solid"/>
          </a:ln>
        </p:spPr>
      </p:sp>
      <p:sp>
        <p:nvSpPr>
          <p:cNvPr id="13" name="Text 11"/>
          <p:cNvSpPr/>
          <p:nvPr/>
        </p:nvSpPr>
        <p:spPr>
          <a:xfrm>
            <a:off x="6492240" y="1965960"/>
            <a:ext cx="4663440" cy="274320"/>
          </a:xfrm>
          <a:prstGeom prst="rect">
            <a:avLst/>
          </a:prstGeom>
          <a:noFill/>
          <a:ln/>
        </p:spPr>
        <p:txBody>
          <a:bodyPr wrap="square" rtlCol="0" anchor="ctr"/>
          <a:lstStyle/>
          <a:p>
            <a:pPr marL="0" indent="0">
              <a:buNone/>
            </a:pPr>
            <a:r>
              <a:rPr lang="en-US" sz="1000" b="1" dirty="0">
                <a:solidFill>
                  <a:srgbClr val="064E3B"/>
                </a:solidFill>
                <a:latin typeface="Arial" pitchFamily="34" charset="0"/>
                <a:ea typeface="Arial" pitchFamily="34" charset="-122"/>
                <a:cs typeface="Arial" pitchFamily="34" charset="-120"/>
              </a:rPr>
              <a:t>STRUCTURED DIAGNOSTIC &amp; TESTING WORKFLOW</a:t>
            </a:r>
            <a:endParaRPr lang="en-US" sz="1000" dirty="0"/>
          </a:p>
        </p:txBody>
      </p:sp>
      <p:sp>
        <p:nvSpPr>
          <p:cNvPr id="14" name="Text 12"/>
          <p:cNvSpPr/>
          <p:nvPr/>
        </p:nvSpPr>
        <p:spPr>
          <a:xfrm>
            <a:off x="6492240" y="2331720"/>
            <a:ext cx="4663440" cy="3657600"/>
          </a:xfrm>
          <a:prstGeom prst="rect">
            <a:avLst/>
          </a:prstGeom>
          <a:noFill/>
          <a:ln/>
        </p:spPr>
        <p:txBody>
          <a:bodyPr wrap="square" rtlCol="0" anchor="ctr"/>
          <a:lstStyle/>
          <a:p>
            <a:pPr marL="0" indent="0">
              <a:buNone/>
            </a:pPr>
            <a:r>
              <a:rPr lang="en-US" sz="1000" b="1" dirty="0">
                <a:solidFill>
                  <a:srgbClr val="0B130E"/>
                </a:solidFill>
                <a:latin typeface="Arial" pitchFamily="34" charset="0"/>
                <a:ea typeface="Arial" pitchFamily="34" charset="-122"/>
                <a:cs typeface="Arial" pitchFamily="34" charset="-120"/>
              </a:rPr>
              <a:t>1. Evening Transaction Volume Audit:
</a:t>
            </a:r>
            <a:r>
              <a:rPr lang="en-US" sz="1000" dirty="0">
                <a:solidFill>
                  <a:srgbClr val="64748B"/>
                </a:solidFill>
                <a:latin typeface="Arial" pitchFamily="34" charset="0"/>
                <a:ea typeface="Arial" pitchFamily="34" charset="-122"/>
                <a:cs typeface="Arial" pitchFamily="34" charset="-120"/>
              </a:rPr>
              <a:t>Determine whether the drop is driven by fewer total transactions or smaller average basket sizes.
</a:t>
            </a:r>
            <a:r>
              <a:rPr lang="en-US" sz="1000" b="1" dirty="0">
                <a:solidFill>
                  <a:srgbClr val="0B130E"/>
                </a:solidFill>
                <a:latin typeface="Arial" pitchFamily="34" charset="0"/>
                <a:ea typeface="Arial" pitchFamily="34" charset="-122"/>
                <a:cs typeface="Arial" pitchFamily="34" charset="-120"/>
              </a:rPr>
              <a:t>2. Product Availability &amp; Stockout Tracking:
</a:t>
            </a:r>
            <a:r>
              <a:rPr lang="en-US" sz="1000" dirty="0">
                <a:solidFill>
                  <a:srgbClr val="64748B"/>
                </a:solidFill>
                <a:latin typeface="Arial" pitchFamily="34" charset="0"/>
                <a:ea typeface="Arial" pitchFamily="34" charset="-122"/>
                <a:cs typeface="Arial" pitchFamily="34" charset="-120"/>
              </a:rPr>
              <a:t>Check if key Food &amp; Beverage lines run out of stock during 17:00–20:00 rush hours.
</a:t>
            </a:r>
            <a:r>
              <a:rPr lang="en-US" sz="1000" b="1" dirty="0">
                <a:solidFill>
                  <a:srgbClr val="0B130E"/>
                </a:solidFill>
                <a:latin typeface="Arial" pitchFamily="34" charset="0"/>
                <a:ea typeface="Arial" pitchFamily="34" charset="-122"/>
                <a:cs typeface="Arial" pitchFamily="34" charset="-120"/>
              </a:rPr>
              <a:t>3. Local Commuter Demand &amp; Traffic:
</a:t>
            </a:r>
            <a:r>
              <a:rPr lang="en-US" sz="1000" dirty="0">
                <a:solidFill>
                  <a:srgbClr val="64748B"/>
                </a:solidFill>
                <a:latin typeface="Arial" pitchFamily="34" charset="0"/>
                <a:ea typeface="Arial" pitchFamily="34" charset="-122"/>
                <a:cs typeface="Arial" pitchFamily="34" charset="-120"/>
              </a:rPr>
              <a:t>Evaluate store access, parking constraints, and competition near the Yangon branch.
</a:t>
            </a:r>
            <a:r>
              <a:rPr lang="en-US" sz="1000" b="1" dirty="0">
                <a:solidFill>
                  <a:srgbClr val="0B130E"/>
                </a:solidFill>
                <a:latin typeface="Arial" pitchFamily="34" charset="0"/>
                <a:ea typeface="Arial" pitchFamily="34" charset="-122"/>
                <a:cs typeface="Arial" pitchFamily="34" charset="-120"/>
              </a:rPr>
              <a:t>4. Controlled A/B Evening Promotion:
</a:t>
            </a:r>
            <a:r>
              <a:rPr lang="en-US" sz="1000" dirty="0">
                <a:solidFill>
                  <a:srgbClr val="64748B"/>
                </a:solidFill>
                <a:latin typeface="Arial" pitchFamily="34" charset="0"/>
                <a:ea typeface="Arial" pitchFamily="34" charset="-122"/>
                <a:cs typeface="Arial" pitchFamily="34" charset="-120"/>
              </a:rPr>
              <a:t>Deploy targeted evening bundle offers (17:00–21:00) and compare sales performance before vs. after campaign launch.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STRATEGIC RECOMMENDATIONS</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Prioritized Business Recommendations &amp; KPIs</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Strategic actions linked directly to verifiable business objectives and measurable KPIs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12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3589020"/>
        </p:xfrm>
        <a:graphic>
          <a:graphicData uri="http://schemas.openxmlformats.org/drawingml/2006/table">
            <a:tbl>
              <a:tblPr/>
              <a:tblGrid>
                <a:gridCol w="5486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0">
                <a:tc>
                  <a:txBody>
                    <a:bodyPr/>
                    <a:lstStyle/>
                    <a:p>
                      <a:pPr marL="0" indent="0">
                        <a:buNone/>
                      </a:pPr>
                      <a:r>
                        <a:rPr lang="en-US" sz="900" b="1" dirty="0">
                          <a:solidFill>
                            <a:srgbClr val="FFFFFF"/>
                          </a:solidFill>
                        </a:rPr>
                        <a:t>#</a:t>
                      </a:r>
                      <a:endParaRPr lang="en-US" sz="9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tc>
                  <a:txBody>
                    <a:bodyPr/>
                    <a:lstStyle/>
                    <a:p>
                      <a:pPr marL="0" indent="0">
                        <a:buNone/>
                      </a:pPr>
                      <a:r>
                        <a:rPr lang="en-US" sz="900" b="1" dirty="0">
                          <a:solidFill>
                            <a:srgbClr val="FFFFFF"/>
                          </a:solidFill>
                        </a:rPr>
                        <a:t>Focus Area &amp; Action</a:t>
                      </a:r>
                      <a:endParaRPr lang="en-US" sz="9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tc>
                  <a:txBody>
                    <a:bodyPr/>
                    <a:lstStyle/>
                    <a:p>
                      <a:pPr marL="0" indent="0">
                        <a:buNone/>
                      </a:pPr>
                      <a:r>
                        <a:rPr lang="en-US" sz="900" b="1" dirty="0">
                          <a:solidFill>
                            <a:srgbClr val="FFFFFF"/>
                          </a:solidFill>
                        </a:rPr>
                        <a:t>Business Objective</a:t>
                      </a:r>
                      <a:endParaRPr lang="en-US" sz="9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tc>
                  <a:txBody>
                    <a:bodyPr/>
                    <a:lstStyle/>
                    <a:p>
                      <a:pPr marL="0" indent="0">
                        <a:buNone/>
                      </a:pPr>
                      <a:r>
                        <a:rPr lang="en-US" sz="900" b="1" dirty="0">
                          <a:solidFill>
                            <a:srgbClr val="FFFFFF"/>
                          </a:solidFill>
                        </a:rPr>
                        <a:t>Measurable KPI to Track</a:t>
                      </a:r>
                      <a:endParaRPr lang="en-US" sz="9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4E3B"/>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064E3B"/>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Improve Mandalay Sales Performance</a:t>
                      </a:r>
                      <a:endParaRPr lang="en-US" sz="850" dirty="0"/>
                    </a:p>
                    <a:p>
                      <a:pPr marL="0" indent="0">
                        <a:buNone/>
                      </a:pPr>
                      <a:r>
                        <a:rPr lang="en-US" sz="850" dirty="0">
                          <a:solidFill>
                            <a:srgbClr val="000000"/>
                          </a:solidFill>
                        </a:rPr>
                        <a:t>Conduct category review on Food &amp; Beverages and Fashion Accessories; launch localized weekend bundle promotions.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Close the 4,371.04 revenue deficit between Mandalay and Naypyitaw by revitalizing key lagging categories.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Mandalay F&amp;B &amp; Fashion sales volume (+5% MoM) and narrowing the branch sales gap to under 2,000.</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064E3B"/>
                          </a:solidFill>
                        </a:rPr>
                        <a:t>2</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Investigate &amp; Mitigate February Sales Decline</a:t>
                      </a:r>
                      <a:endParaRPr lang="en-US" sz="850" dirty="0"/>
                    </a:p>
                    <a:p>
                      <a:pPr marL="0" indent="0">
                        <a:buNone/>
                      </a:pPr>
                      <a:r>
                        <a:rPr lang="en-US" sz="850" dirty="0">
                          <a:solidFill>
                            <a:srgbClr val="000000"/>
                          </a:solidFill>
                        </a:rPr>
                        <a:t>Audit price points, supplier stock availability, and promotional cadence for Electronic Accessories during Feb.</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Prevent steep post-holiday revenue contractions and stabilize Q1 cash flows.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Electronic Accessories stockout rate (&lt;2%) and Feb MoM sales variance held within -5% in future cycles.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b="1" dirty="0">
                          <a:solidFill>
                            <a:srgbClr val="064E3B"/>
                          </a:solidFill>
                        </a:rPr>
                        <a:t>3</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Increase Normal Customer Engagement &amp; Loyalty</a:t>
                      </a:r>
                      <a:endParaRPr lang="en-US" sz="850" dirty="0"/>
                    </a:p>
                    <a:p>
                      <a:pPr marL="0" indent="0">
                        <a:buNone/>
                      </a:pPr>
                      <a:r>
                        <a:rPr lang="en-US" sz="850" dirty="0">
                          <a:solidFill>
                            <a:srgbClr val="000000"/>
                          </a:solidFill>
                        </a:rPr>
                        <a:t>Deploy point-of-sale checkout incentives (e.g. instant 5% member signup discount); introduce credit card partner rewards.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Convert cash-paying Normal walk-in customers into registered Member tier shoppers with higher lifetime value.</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Member signup rate from walk-ins (Target: 15% increase) and Average Transaction Value (ATV) lift.</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064E3B"/>
                          </a:solidFill>
                        </a:rPr>
                        <a:t>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Strengthen Morning Sales Productivity</a:t>
                      </a:r>
                      <a:endParaRPr lang="en-US" sz="850" dirty="0"/>
                    </a:p>
                    <a:p>
                      <a:pPr marL="0" indent="0">
                        <a:buNone/>
                      </a:pPr>
                      <a:r>
                        <a:rPr lang="en-US" sz="850" dirty="0">
                          <a:solidFill>
                            <a:srgbClr val="000000"/>
                          </a:solidFill>
                        </a:rPr>
                        <a:t>Pilot "Early Bird Fresh Essentials" discounts between 09:00–12:00; optimize morning restocking schedules.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Monetize underutilized morning trading hours without adding fixed store operational overhead.</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Morning sales revenue growth from baseline 31,421.48 (Target: +15%) and morning customer traffic count.</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b="1" dirty="0">
                          <a:solidFill>
                            <a:srgbClr val="064E3B"/>
                          </a:solidFill>
                        </a:rPr>
                        <a:t>5</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Improve Branch C Category Performance</a:t>
                      </a:r>
                      <a:endParaRPr lang="en-US" sz="850" dirty="0"/>
                    </a:p>
                    <a:p>
                      <a:pPr marL="0" indent="0">
                        <a:buNone/>
                      </a:pPr>
                      <a:r>
                        <a:rPr lang="en-US" sz="850" dirty="0">
                          <a:solidFill>
                            <a:srgbClr val="000000"/>
                          </a:solidFill>
                        </a:rPr>
                        <a:t>Evaluate inventory assortment, shelf placement, and local household demand patterns for Home &amp; Lifestyle in Branch C.</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Elevate underperforming Home &amp; Lifestyle product turnover in the highest-grossing branch.</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Branch C Home &amp; Lifestyle inventory turnover ratio and category share of total branch sales.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b="1" dirty="0">
                          <a:solidFill>
                            <a:srgbClr val="064E3B"/>
                          </a:solidFill>
                        </a:rPr>
                        <a:t>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Investigate March Health &amp; Beauty Performance</a:t>
                      </a:r>
                      <a:endParaRPr lang="en-US" sz="850" dirty="0"/>
                    </a:p>
                    <a:p>
                      <a:pPr marL="0" indent="0">
                        <a:buNone/>
                      </a:pPr>
                      <a:r>
                        <a:rPr lang="en-US" sz="850" dirty="0">
                          <a:solidFill>
                            <a:srgbClr val="000000"/>
                          </a:solidFill>
                        </a:rPr>
                        <a:t>Survey female shoppers, audit skincare/cosmetics inventory levels, and evaluate competitor pricing actions.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Identify drivers behind the drop in female customer purchases in Health and Beauty during March.</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Female shopper Health &amp; Beauty basket size and customer retention rate through Q2.</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00" b="1" dirty="0">
                          <a:solidFill>
                            <a:srgbClr val="064E3B"/>
                          </a:solidFill>
                        </a:rPr>
                        <a:t>7</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rPr>
                        <a:t>Optimize Yangon Evening Sales Operations</a:t>
                      </a:r>
                      <a:endParaRPr lang="en-US" sz="850" dirty="0"/>
                    </a:p>
                    <a:p>
                      <a:pPr marL="0" indent="0">
                        <a:buNone/>
                      </a:pPr>
                      <a:r>
                        <a:rPr lang="en-US" sz="850" dirty="0">
                          <a:solidFill>
                            <a:srgbClr val="000000"/>
                          </a:solidFill>
                        </a:rPr>
                        <a:t>Audit evening checkout queue times, replenishment velocity, and run targeted evening promotional flash campaigns.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64748B"/>
                          </a:solidFill>
                        </a:rPr>
                        <a:t>Recover untapped evening customer demand in Yangon to match peer branch evening benchmarks.</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b="1" dirty="0">
                          <a:solidFill>
                            <a:srgbClr val="0B130E"/>
                          </a:solidFill>
                        </a:rPr>
                        <a:t>Pre- vs. Post-campaign evening revenue lift and evening transaction count in Yangon branch.</a:t>
                      </a:r>
                      <a:endParaRPr lang="en-US" sz="8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772400" cy="274320"/>
          </a:xfrm>
          <a:prstGeom prst="rect">
            <a:avLst/>
          </a:prstGeom>
          <a:noFill/>
          <a:ln/>
        </p:spPr>
        <p:txBody>
          <a:bodyPr wrap="square" rtlCol="0" anchor="ctr"/>
          <a:lstStyle/>
          <a:p>
            <a:pPr marL="0" indent="0">
              <a:buNone/>
            </a:pPr>
            <a:r>
              <a:rPr lang="en-US" sz="1000" b="1" dirty="0">
                <a:solidFill>
                  <a:srgbClr val="059669"/>
                </a:solidFill>
                <a:latin typeface="Arial" pitchFamily="34" charset="0"/>
                <a:ea typeface="Arial" pitchFamily="34" charset="-122"/>
                <a:cs typeface="Arial" pitchFamily="34" charset="-120"/>
              </a:rPr>
              <a:t>MARKETPULSE  |  ROADMAP</a:t>
            </a:r>
            <a:endParaRPr lang="en-US" sz="1000" dirty="0"/>
          </a:p>
        </p:txBody>
      </p:sp>
      <p:sp>
        <p:nvSpPr>
          <p:cNvPr id="3" name="Text 1"/>
          <p:cNvSpPr/>
          <p:nvPr/>
        </p:nvSpPr>
        <p:spPr>
          <a:xfrm>
            <a:off x="731520" y="640080"/>
            <a:ext cx="9601200" cy="502920"/>
          </a:xfrm>
          <a:prstGeom prst="rect">
            <a:avLst/>
          </a:prstGeom>
          <a:noFill/>
          <a:ln/>
        </p:spPr>
        <p:txBody>
          <a:bodyPr wrap="square" rtlCol="0" anchor="ctr"/>
          <a:lstStyle/>
          <a:p>
            <a:pPr marL="0" indent="0">
              <a:buNone/>
            </a:pPr>
            <a:r>
              <a:rPr lang="en-US" sz="2200" b="1" dirty="0">
                <a:solidFill>
                  <a:srgbClr val="0B130E"/>
                </a:solidFill>
                <a:latin typeface="Arial" pitchFamily="34" charset="0"/>
                <a:ea typeface="Arial" pitchFamily="34" charset="-122"/>
                <a:cs typeface="Arial" pitchFamily="34" charset="-120"/>
              </a:rPr>
              <a:t>Three-Phase Implementation Roadmap</a:t>
            </a:r>
            <a:endParaRPr lang="en-US" sz="2200" dirty="0"/>
          </a:p>
        </p:txBody>
      </p:sp>
      <p:sp>
        <p:nvSpPr>
          <p:cNvPr id="4" name="Text 2"/>
          <p:cNvSpPr/>
          <p:nvPr/>
        </p:nvSpPr>
        <p:spPr>
          <a:xfrm>
            <a:off x="731520" y="1143000"/>
            <a:ext cx="9601200" cy="32004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Structured execution timeline without speculative budgets or deadlines</a:t>
            </a:r>
            <a:endParaRPr lang="en-US" sz="1200" dirty="0"/>
          </a:p>
        </p:txBody>
      </p:sp>
      <p:sp>
        <p:nvSpPr>
          <p:cNvPr id="5" name="Text 3"/>
          <p:cNvSpPr/>
          <p:nvPr/>
        </p:nvSpPr>
        <p:spPr>
          <a:xfrm>
            <a:off x="10515600" y="365760"/>
            <a:ext cx="914400" cy="274320"/>
          </a:xfrm>
          <a:prstGeom prst="rect">
            <a:avLst/>
          </a:prstGeom>
          <a:noFill/>
          <a:ln/>
        </p:spPr>
        <p:txBody>
          <a:bodyPr wrap="square" rtlCol="0" anchor="ctr"/>
          <a:lstStyle/>
          <a:p>
            <a:pPr marL="0" indent="0" algn="r">
              <a:buNone/>
            </a:pPr>
            <a:r>
              <a:rPr lang="en-US" sz="1000" dirty="0">
                <a:solidFill>
                  <a:srgbClr val="64748B"/>
                </a:solidFill>
                <a:latin typeface="Arial" pitchFamily="34" charset="0"/>
                <a:ea typeface="Arial" pitchFamily="34" charset="-122"/>
                <a:cs typeface="Arial" pitchFamily="34" charset="-120"/>
              </a:rPr>
              <a:t>13 / 15</a:t>
            </a:r>
            <a:endParaRPr lang="en-US" sz="1000" dirty="0"/>
          </a:p>
        </p:txBody>
      </p:sp>
      <p:sp>
        <p:nvSpPr>
          <p:cNvPr id="6" name="Shape 4"/>
          <p:cNvSpPr/>
          <p:nvPr/>
        </p:nvSpPr>
        <p:spPr>
          <a:xfrm>
            <a:off x="731520" y="1508760"/>
            <a:ext cx="10698480" cy="0"/>
          </a:xfrm>
          <a:prstGeom prst="line">
            <a:avLst/>
          </a:prstGeom>
          <a:noFill/>
          <a:ln w="12700">
            <a:solidFill>
              <a:srgbClr val="E2E8F0"/>
            </a:solidFill>
            <a:prstDash val="solid"/>
          </a:ln>
        </p:spPr>
      </p:sp>
      <p:sp>
        <p:nvSpPr>
          <p:cNvPr id="7" name="Text 5"/>
          <p:cNvSpPr/>
          <p:nvPr/>
        </p:nvSpPr>
        <p:spPr>
          <a:xfrm>
            <a:off x="731520" y="6446520"/>
            <a:ext cx="1069848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MARKETPULSE — Excel Supermarket Sales Analytics  |  Confidential &amp; Internal Business Intelligence</a:t>
            </a:r>
            <a:endParaRPr lang="en-US" sz="900" dirty="0"/>
          </a:p>
        </p:txBody>
      </p:sp>
      <p:sp>
        <p:nvSpPr>
          <p:cNvPr id="8" name="Shape 6"/>
          <p:cNvSpPr/>
          <p:nvPr/>
        </p:nvSpPr>
        <p:spPr>
          <a:xfrm>
            <a:off x="731520" y="1783080"/>
            <a:ext cx="3383280" cy="4389120"/>
          </a:xfrm>
          <a:prstGeom prst="rect">
            <a:avLst/>
          </a:prstGeom>
          <a:solidFill>
            <a:srgbClr val="FFFFFF"/>
          </a:solidFill>
          <a:ln w="12700">
            <a:solidFill>
              <a:srgbClr val="E2E8F0"/>
            </a:solidFill>
            <a:prstDash val="solid"/>
          </a:ln>
        </p:spPr>
      </p:sp>
      <p:sp>
        <p:nvSpPr>
          <p:cNvPr id="9" name="Text 7"/>
          <p:cNvSpPr/>
          <p:nvPr/>
        </p:nvSpPr>
        <p:spPr>
          <a:xfrm>
            <a:off x="960120" y="1965960"/>
            <a:ext cx="2926080" cy="274320"/>
          </a:xfrm>
          <a:prstGeom prst="rect">
            <a:avLst/>
          </a:prstGeom>
          <a:noFill/>
          <a:ln/>
        </p:spPr>
        <p:txBody>
          <a:bodyPr wrap="square" rtlCol="0" anchor="ctr"/>
          <a:lstStyle/>
          <a:p>
            <a:pPr marL="0" indent="0">
              <a:buNone/>
            </a:pPr>
            <a:r>
              <a:rPr lang="en-US" sz="1100" b="1" dirty="0">
                <a:solidFill>
                  <a:srgbClr val="059669"/>
                </a:solidFill>
                <a:latin typeface="Arial" pitchFamily="34" charset="0"/>
                <a:ea typeface="Arial" pitchFamily="34" charset="-122"/>
                <a:cs typeface="Arial" pitchFamily="34" charset="-120"/>
              </a:rPr>
              <a:t>PHASE 01</a:t>
            </a:r>
            <a:endParaRPr lang="en-US" sz="1100" dirty="0"/>
          </a:p>
        </p:txBody>
      </p:sp>
      <p:sp>
        <p:nvSpPr>
          <p:cNvPr id="10" name="Text 8"/>
          <p:cNvSpPr/>
          <p:nvPr/>
        </p:nvSpPr>
        <p:spPr>
          <a:xfrm>
            <a:off x="9601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Diagnostic Validation &amp; Root Cause Analysis</a:t>
            </a:r>
            <a:endParaRPr lang="en-US" sz="1400" dirty="0"/>
          </a:p>
        </p:txBody>
      </p:sp>
      <p:sp>
        <p:nvSpPr>
          <p:cNvPr id="11" name="Text 9"/>
          <p:cNvSpPr/>
          <p:nvPr/>
        </p:nvSpPr>
        <p:spPr>
          <a:xfrm>
            <a:off x="960120" y="2880360"/>
            <a:ext cx="2926080" cy="411480"/>
          </a:xfrm>
          <a:prstGeom prst="rect">
            <a:avLst/>
          </a:prstGeom>
          <a:noFill/>
          <a:ln/>
        </p:spPr>
        <p:txBody>
          <a:bodyPr wrap="square" rtlCol="0" anchor="ctr"/>
          <a:lstStyle/>
          <a:p>
            <a:pPr marL="0" indent="0">
              <a:buNone/>
            </a:pPr>
            <a:r>
              <a:rPr lang="en-US" sz="950" i="1" dirty="0">
                <a:solidFill>
                  <a:srgbClr val="064E3B"/>
                </a:solidFill>
                <a:latin typeface="Arial" pitchFamily="34" charset="0"/>
                <a:ea typeface="Arial" pitchFamily="34" charset="-122"/>
                <a:cs typeface="Arial" pitchFamily="34" charset="-120"/>
              </a:rPr>
              <a:t>Focus: Data verification, inventory audit, and customer interview checkpoints</a:t>
            </a:r>
            <a:endParaRPr lang="en-US" sz="950" dirty="0"/>
          </a:p>
        </p:txBody>
      </p:sp>
      <p:sp>
        <p:nvSpPr>
          <p:cNvPr id="12" name="Text 10"/>
          <p:cNvSpPr/>
          <p:nvPr/>
        </p:nvSpPr>
        <p:spPr>
          <a:xfrm>
            <a:off x="960120" y="3337560"/>
            <a:ext cx="2926080" cy="2560320"/>
          </a:xfrm>
          <a:prstGeom prst="rect">
            <a:avLst/>
          </a:prstGeom>
          <a:noFill/>
          <a:ln/>
        </p:spPr>
        <p:txBody>
          <a:bodyPr wrap="square" rtlCol="0" anchor="ctr"/>
          <a:lstStyle/>
          <a:p>
            <a:pPr marL="0" indent="0">
              <a:buNone/>
            </a:pPr>
            <a:r>
              <a:rPr lang="en-US" sz="850" dirty="0">
                <a:solidFill>
                  <a:srgbClr val="64748B"/>
                </a:solidFill>
                <a:latin typeface="Arial" pitchFamily="34" charset="0"/>
                <a:ea typeface="Arial" pitchFamily="34" charset="-122"/>
                <a:cs typeface="Arial" pitchFamily="34" charset="-120"/>
              </a:rPr>
              <a:t>KEY ACTIONS:
• Audit stockout logs for Electronic Accessories in February across all 3 branches
• Examine Mandalay branch pricing and assortment for Food &amp; Beverages vs Naypyitaw
• Conduct store walk-throughs in Yangon during evening peak hours to observe service bottlenecks
• Analyze transaction log timestamps to map checkout queue congestion during morning hours
</a:t>
            </a:r>
            <a:endParaRPr lang="en-US" sz="850" dirty="0"/>
          </a:p>
        </p:txBody>
      </p:sp>
      <p:sp>
        <p:nvSpPr>
          <p:cNvPr id="13" name="Shape 11"/>
          <p:cNvSpPr/>
          <p:nvPr/>
        </p:nvSpPr>
        <p:spPr>
          <a:xfrm>
            <a:off x="4389120" y="1783080"/>
            <a:ext cx="3383280" cy="4389120"/>
          </a:xfrm>
          <a:prstGeom prst="rect">
            <a:avLst/>
          </a:prstGeom>
          <a:solidFill>
            <a:srgbClr val="FFFFFF"/>
          </a:solidFill>
          <a:ln w="25400">
            <a:solidFill>
              <a:srgbClr val="10B981"/>
            </a:solidFill>
            <a:prstDash val="solid"/>
          </a:ln>
        </p:spPr>
      </p:sp>
      <p:sp>
        <p:nvSpPr>
          <p:cNvPr id="14" name="Text 12"/>
          <p:cNvSpPr/>
          <p:nvPr/>
        </p:nvSpPr>
        <p:spPr>
          <a:xfrm>
            <a:off x="4617720" y="1965960"/>
            <a:ext cx="2926080" cy="274320"/>
          </a:xfrm>
          <a:prstGeom prst="rect">
            <a:avLst/>
          </a:prstGeom>
          <a:noFill/>
          <a:ln/>
        </p:spPr>
        <p:txBody>
          <a:bodyPr wrap="square" rtlCol="0" anchor="ctr"/>
          <a:lstStyle/>
          <a:p>
            <a:pPr marL="0" indent="0">
              <a:buNone/>
            </a:pPr>
            <a:r>
              <a:rPr lang="en-US" sz="1100" b="1" dirty="0">
                <a:solidFill>
                  <a:srgbClr val="059669"/>
                </a:solidFill>
                <a:latin typeface="Arial" pitchFamily="34" charset="0"/>
                <a:ea typeface="Arial" pitchFamily="34" charset="-122"/>
                <a:cs typeface="Arial" pitchFamily="34" charset="-120"/>
              </a:rPr>
              <a:t>PHASE 02</a:t>
            </a:r>
            <a:endParaRPr lang="en-US" sz="1100" dirty="0"/>
          </a:p>
        </p:txBody>
      </p:sp>
      <p:sp>
        <p:nvSpPr>
          <p:cNvPr id="15" name="Text 13"/>
          <p:cNvSpPr/>
          <p:nvPr/>
        </p:nvSpPr>
        <p:spPr>
          <a:xfrm>
            <a:off x="46177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Targeted Experimentation &amp; Store Pilots</a:t>
            </a:r>
            <a:endParaRPr lang="en-US" sz="1400" dirty="0"/>
          </a:p>
        </p:txBody>
      </p:sp>
      <p:sp>
        <p:nvSpPr>
          <p:cNvPr id="16" name="Text 14"/>
          <p:cNvSpPr/>
          <p:nvPr/>
        </p:nvSpPr>
        <p:spPr>
          <a:xfrm>
            <a:off x="4617720" y="2880360"/>
            <a:ext cx="2926080" cy="411480"/>
          </a:xfrm>
          <a:prstGeom prst="rect">
            <a:avLst/>
          </a:prstGeom>
          <a:noFill/>
          <a:ln/>
        </p:spPr>
        <p:txBody>
          <a:bodyPr wrap="square" rtlCol="0" anchor="ctr"/>
          <a:lstStyle/>
          <a:p>
            <a:pPr marL="0" indent="0">
              <a:buNone/>
            </a:pPr>
            <a:r>
              <a:rPr lang="en-US" sz="950" i="1" dirty="0">
                <a:solidFill>
                  <a:srgbClr val="064E3B"/>
                </a:solidFill>
                <a:latin typeface="Arial" pitchFamily="34" charset="0"/>
                <a:ea typeface="Arial" pitchFamily="34" charset="-122"/>
                <a:cs typeface="Arial" pitchFamily="34" charset="-120"/>
              </a:rPr>
              <a:t>Focus: A/B promotional testing, morning bundles, and loyalty acquisition initiatives</a:t>
            </a:r>
            <a:endParaRPr lang="en-US" sz="950" dirty="0"/>
          </a:p>
        </p:txBody>
      </p:sp>
      <p:sp>
        <p:nvSpPr>
          <p:cNvPr id="17" name="Text 15"/>
          <p:cNvSpPr/>
          <p:nvPr/>
        </p:nvSpPr>
        <p:spPr>
          <a:xfrm>
            <a:off x="4617720" y="3337560"/>
            <a:ext cx="2926080" cy="2560320"/>
          </a:xfrm>
          <a:prstGeom prst="rect">
            <a:avLst/>
          </a:prstGeom>
          <a:noFill/>
          <a:ln/>
        </p:spPr>
        <p:txBody>
          <a:bodyPr wrap="square" rtlCol="0" anchor="ctr"/>
          <a:lstStyle/>
          <a:p>
            <a:pPr marL="0" indent="0">
              <a:buNone/>
            </a:pPr>
            <a:r>
              <a:rPr lang="en-US" sz="850" dirty="0">
                <a:solidFill>
                  <a:srgbClr val="64748B"/>
                </a:solidFill>
                <a:latin typeface="Arial" pitchFamily="34" charset="0"/>
                <a:ea typeface="Arial" pitchFamily="34" charset="-122"/>
                <a:cs typeface="Arial" pitchFamily="34" charset="-120"/>
              </a:rPr>
              <a:t>KEY ACTIONS:
• Launch "Morning Fresh Essentials" 10% bundle pilot in 1 test branch
• Pilot POS loyalty enrollment prompt offering instant discount for Normal cash shoppers
• Run evening flash promotion in Yangon targeting commuter household baskets
• Test adjusted shelf placement and promotional signage for Home &amp; Lifestyle in Branch C
</a:t>
            </a:r>
            <a:endParaRPr lang="en-US" sz="850" dirty="0"/>
          </a:p>
        </p:txBody>
      </p:sp>
      <p:sp>
        <p:nvSpPr>
          <p:cNvPr id="18" name="Shape 16"/>
          <p:cNvSpPr/>
          <p:nvPr/>
        </p:nvSpPr>
        <p:spPr>
          <a:xfrm>
            <a:off x="8046720" y="1783080"/>
            <a:ext cx="3383280" cy="4389120"/>
          </a:xfrm>
          <a:prstGeom prst="rect">
            <a:avLst/>
          </a:prstGeom>
          <a:solidFill>
            <a:srgbClr val="FFFFFF"/>
          </a:solidFill>
          <a:ln w="12700">
            <a:solidFill>
              <a:srgbClr val="E2E8F0"/>
            </a:solidFill>
            <a:prstDash val="solid"/>
          </a:ln>
        </p:spPr>
      </p:sp>
      <p:sp>
        <p:nvSpPr>
          <p:cNvPr id="19" name="Text 17"/>
          <p:cNvSpPr/>
          <p:nvPr/>
        </p:nvSpPr>
        <p:spPr>
          <a:xfrm>
            <a:off x="8275320" y="1965960"/>
            <a:ext cx="2926080" cy="274320"/>
          </a:xfrm>
          <a:prstGeom prst="rect">
            <a:avLst/>
          </a:prstGeom>
          <a:noFill/>
          <a:ln/>
        </p:spPr>
        <p:txBody>
          <a:bodyPr wrap="square" rtlCol="0" anchor="ctr"/>
          <a:lstStyle/>
          <a:p>
            <a:pPr marL="0" indent="0">
              <a:buNone/>
            </a:pPr>
            <a:r>
              <a:rPr lang="en-US" sz="1100" b="1" dirty="0">
                <a:solidFill>
                  <a:srgbClr val="059669"/>
                </a:solidFill>
                <a:latin typeface="Arial" pitchFamily="34" charset="0"/>
                <a:ea typeface="Arial" pitchFamily="34" charset="-122"/>
                <a:cs typeface="Arial" pitchFamily="34" charset="-120"/>
              </a:rPr>
              <a:t>PHASE 03</a:t>
            </a:r>
            <a:endParaRPr lang="en-US" sz="1100" dirty="0"/>
          </a:p>
        </p:txBody>
      </p:sp>
      <p:sp>
        <p:nvSpPr>
          <p:cNvPr id="20" name="Text 18"/>
          <p:cNvSpPr/>
          <p:nvPr/>
        </p:nvSpPr>
        <p:spPr>
          <a:xfrm>
            <a:off x="8275320" y="2286000"/>
            <a:ext cx="2926080" cy="502920"/>
          </a:xfrm>
          <a:prstGeom prst="rect">
            <a:avLst/>
          </a:prstGeom>
          <a:noFill/>
          <a:ln/>
        </p:spPr>
        <p:txBody>
          <a:bodyPr wrap="square" rtlCol="0" anchor="ctr"/>
          <a:lstStyle/>
          <a:p>
            <a:pPr marL="0" indent="0">
              <a:buNone/>
            </a:pPr>
            <a:r>
              <a:rPr lang="en-US" sz="1400" b="1" dirty="0">
                <a:solidFill>
                  <a:srgbClr val="0B130E"/>
                </a:solidFill>
                <a:latin typeface="Arial" pitchFamily="34" charset="0"/>
                <a:ea typeface="Arial" pitchFamily="34" charset="-122"/>
                <a:cs typeface="Arial" pitchFamily="34" charset="-120"/>
              </a:rPr>
              <a:t>Performance Measurement, Scaling &amp; Governance</a:t>
            </a:r>
            <a:endParaRPr lang="en-US" sz="1400" dirty="0"/>
          </a:p>
        </p:txBody>
      </p:sp>
      <p:sp>
        <p:nvSpPr>
          <p:cNvPr id="21" name="Text 19"/>
          <p:cNvSpPr/>
          <p:nvPr/>
        </p:nvSpPr>
        <p:spPr>
          <a:xfrm>
            <a:off x="8275320" y="2880360"/>
            <a:ext cx="2926080" cy="411480"/>
          </a:xfrm>
          <a:prstGeom prst="rect">
            <a:avLst/>
          </a:prstGeom>
          <a:noFill/>
          <a:ln/>
        </p:spPr>
        <p:txBody>
          <a:bodyPr wrap="square" rtlCol="0" anchor="ctr"/>
          <a:lstStyle/>
          <a:p>
            <a:pPr marL="0" indent="0">
              <a:buNone/>
            </a:pPr>
            <a:r>
              <a:rPr lang="en-US" sz="950" i="1" dirty="0">
                <a:solidFill>
                  <a:srgbClr val="064E3B"/>
                </a:solidFill>
                <a:latin typeface="Arial" pitchFamily="34" charset="0"/>
                <a:ea typeface="Arial" pitchFamily="34" charset="-122"/>
                <a:cs typeface="Arial" pitchFamily="34" charset="-120"/>
              </a:rPr>
              <a:t>Focus: KPI tracking, standard operating procedure (SOP) updates, and automated reporting</a:t>
            </a:r>
            <a:endParaRPr lang="en-US" sz="950" dirty="0"/>
          </a:p>
        </p:txBody>
      </p:sp>
      <p:sp>
        <p:nvSpPr>
          <p:cNvPr id="22" name="Text 20"/>
          <p:cNvSpPr/>
          <p:nvPr/>
        </p:nvSpPr>
        <p:spPr>
          <a:xfrm>
            <a:off x="8275320" y="3337560"/>
            <a:ext cx="2926080" cy="2560320"/>
          </a:xfrm>
          <a:prstGeom prst="rect">
            <a:avLst/>
          </a:prstGeom>
          <a:noFill/>
          <a:ln/>
        </p:spPr>
        <p:txBody>
          <a:bodyPr wrap="square" rtlCol="0" anchor="ctr"/>
          <a:lstStyle/>
          <a:p>
            <a:pPr marL="0" indent="0">
              <a:buNone/>
            </a:pPr>
            <a:r>
              <a:rPr lang="en-US" sz="850" dirty="0">
                <a:solidFill>
                  <a:srgbClr val="64748B"/>
                </a:solidFill>
                <a:latin typeface="Arial" pitchFamily="34" charset="0"/>
                <a:ea typeface="Arial" pitchFamily="34" charset="-122"/>
                <a:cs typeface="Arial" pitchFamily="34" charset="-120"/>
              </a:rPr>
              <a:t>KEY ACTIONS:
• Roll out winning morning promotional packages to all 3 city branches
• Incorporate monthly category elasticity reviews into regular management routines
• Standardize the automated Excel KPI Reporting Dashboard for branch managers
• Establish quarterly cross-branch merchandising and inventory rebalancing cycles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0E"/>
        </a:solidFill>
        <a:effectLst/>
      </p:bgPr>
    </p:bg>
    <p:spTree>
      <p:nvGrpSpPr>
        <p:cNvPr id="1" name=""/>
        <p:cNvGrpSpPr/>
        <p:nvPr/>
      </p:nvGrpSpPr>
      <p:grpSpPr>
        <a:xfrm>
          <a:off x="0" y="0"/>
          <a:ext cx="0" cy="0"/>
          <a:chOff x="0" y="0"/>
          <a:chExt cx="0" cy="0"/>
        </a:xfrm>
      </p:grpSpPr>
      <p:sp>
        <p:nvSpPr>
          <p:cNvPr id="2" name="Shape 0"/>
          <p:cNvSpPr/>
          <p:nvPr/>
        </p:nvSpPr>
        <p:spPr>
          <a:xfrm>
            <a:off x="731520" y="548640"/>
            <a:ext cx="10698480" cy="5760720"/>
          </a:xfrm>
          <a:prstGeom prst="rect">
            <a:avLst/>
          </a:prstGeom>
          <a:solidFill>
            <a:srgbClr val="051F14"/>
          </a:solidFill>
          <a:ln w="12700">
            <a:solidFill>
              <a:srgbClr val="10B981"/>
            </a:solidFill>
            <a:prstDash val="solid"/>
          </a:ln>
        </p:spPr>
      </p:sp>
      <p:sp>
        <p:nvSpPr>
          <p:cNvPr id="3" name="Text 1"/>
          <p:cNvSpPr/>
          <p:nvPr/>
        </p:nvSpPr>
        <p:spPr>
          <a:xfrm>
            <a:off x="1097280" y="1005840"/>
            <a:ext cx="9601200" cy="274320"/>
          </a:xfrm>
          <a:prstGeom prst="rect">
            <a:avLst/>
          </a:prstGeom>
          <a:noFill/>
          <a:ln/>
        </p:spPr>
        <p:txBody>
          <a:bodyPr wrap="square" rtlCol="0" anchor="ctr"/>
          <a:lstStyle/>
          <a:p>
            <a:pPr marL="0" indent="0">
              <a:buNone/>
            </a:pPr>
            <a:r>
              <a:rPr lang="en-US" sz="1100" b="1" dirty="0">
                <a:solidFill>
                  <a:srgbClr val="10B981"/>
                </a:solidFill>
                <a:latin typeface="Arial" pitchFamily="34" charset="0"/>
                <a:ea typeface="Arial" pitchFamily="34" charset="-122"/>
                <a:cs typeface="Arial" pitchFamily="34" charset="-120"/>
              </a:rPr>
              <a:t>EXECUTIVE SYNTHESIS &amp; ANALYTICAL IMPACT</a:t>
            </a:r>
            <a:endParaRPr lang="en-US" sz="1100" dirty="0"/>
          </a:p>
        </p:txBody>
      </p:sp>
      <p:sp>
        <p:nvSpPr>
          <p:cNvPr id="4" name="Text 2"/>
          <p:cNvSpPr/>
          <p:nvPr/>
        </p:nvSpPr>
        <p:spPr>
          <a:xfrm>
            <a:off x="1097280" y="1371600"/>
            <a:ext cx="96012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Conclusion: Transforming Supermarket Analytics</a:t>
            </a:r>
            <a:endParaRPr lang="en-US" sz="2600" dirty="0"/>
          </a:p>
        </p:txBody>
      </p:sp>
      <p:sp>
        <p:nvSpPr>
          <p:cNvPr id="5" name="Text 3"/>
          <p:cNvSpPr/>
          <p:nvPr/>
        </p:nvSpPr>
        <p:spPr>
          <a:xfrm>
            <a:off x="1097280" y="2011680"/>
            <a:ext cx="9601200" cy="2468880"/>
          </a:xfrm>
          <a:prstGeom prst="rect">
            <a:avLst/>
          </a:prstGeom>
          <a:noFill/>
          <a:ln/>
        </p:spPr>
        <p:txBody>
          <a:bodyPr wrap="square" rtlCol="0" anchor="ctr"/>
          <a:lstStyle/>
          <a:p>
            <a:pPr marL="0" indent="0">
              <a:buNone/>
            </a:pPr>
            <a:r>
              <a:rPr lang="en-US" sz="1200" b="1" dirty="0">
                <a:solidFill>
                  <a:srgbClr val="A7F3D0"/>
                </a:solidFill>
                <a:latin typeface="Arial" pitchFamily="34" charset="0"/>
                <a:ea typeface="Arial" pitchFamily="34" charset="-122"/>
                <a:cs typeface="Arial" pitchFamily="34" charset="-120"/>
              </a:rPr>
              <a:t>• Excel-Based Business Intelligence: </a:t>
            </a:r>
            <a:r>
              <a:rPr lang="en-US" sz="1100" dirty="0">
                <a:solidFill>
                  <a:srgbClr val="E2E8F0"/>
                </a:solidFill>
                <a:latin typeface="Arial" pitchFamily="34" charset="0"/>
                <a:ea typeface="Arial" pitchFamily="34" charset="-122"/>
                <a:cs typeface="Arial" pitchFamily="34" charset="-120"/>
              </a:rPr>
              <a:t>Demonstrated how structured pivot analysis, KPI reporting, and clean descriptive data modeling uncover actionable retail truths.
</a:t>
            </a:r>
            <a:r>
              <a:rPr lang="en-US" sz="1200" b="1" dirty="0">
                <a:solidFill>
                  <a:srgbClr val="A7F3D0"/>
                </a:solidFill>
                <a:latin typeface="Arial" pitchFamily="34" charset="0"/>
                <a:ea typeface="Arial" pitchFamily="34" charset="-122"/>
                <a:cs typeface="Arial" pitchFamily="34" charset="-120"/>
              </a:rPr>
              <a:t>• Empirical Disciplinary Boundaries: </a:t>
            </a:r>
            <a:r>
              <a:rPr lang="en-US" sz="1100" dirty="0">
                <a:solidFill>
                  <a:srgbClr val="E2E8F0"/>
                </a:solidFill>
                <a:latin typeface="Arial" pitchFamily="34" charset="0"/>
                <a:ea typeface="Arial" pitchFamily="34" charset="-122"/>
                <a:cs typeface="Arial" pitchFamily="34" charset="-120"/>
              </a:rPr>
              <a:t>Separated verified dataset facts (e.g. Naypyitaw sales lead, February dip) from operational hypotheses and structured A/B testing.
</a:t>
            </a:r>
            <a:r>
              <a:rPr lang="en-US" sz="1200" b="1" dirty="0">
                <a:solidFill>
                  <a:srgbClr val="A7F3D0"/>
                </a:solidFill>
                <a:latin typeface="Arial" pitchFamily="34" charset="0"/>
                <a:ea typeface="Arial" pitchFamily="34" charset="-122"/>
                <a:cs typeface="Arial" pitchFamily="34" charset="-120"/>
              </a:rPr>
              <a:t>• Measurable Management Value: </a:t>
            </a:r>
            <a:r>
              <a:rPr lang="en-US" sz="1100" dirty="0">
                <a:solidFill>
                  <a:srgbClr val="E2E8F0"/>
                </a:solidFill>
                <a:latin typeface="Arial" pitchFamily="34" charset="0"/>
                <a:ea typeface="Arial" pitchFamily="34" charset="-122"/>
                <a:cs typeface="Arial" pitchFamily="34" charset="-120"/>
              </a:rPr>
              <a:t>Equipped supermarket executives with 7 prioritized initiatives and an empirical 3-phase roadmap to optimize revenue and customer lifetime value.</a:t>
            </a:r>
            <a:endParaRPr lang="en-US" sz="1200" dirty="0"/>
          </a:p>
        </p:txBody>
      </p:sp>
      <p:sp>
        <p:nvSpPr>
          <p:cNvPr id="6" name="Shape 4"/>
          <p:cNvSpPr/>
          <p:nvPr/>
        </p:nvSpPr>
        <p:spPr>
          <a:xfrm>
            <a:off x="1097280" y="4663440"/>
            <a:ext cx="9966960" cy="1188720"/>
          </a:xfrm>
          <a:prstGeom prst="rect">
            <a:avLst/>
          </a:prstGeom>
          <a:solidFill>
            <a:srgbClr val="0B130E"/>
          </a:solidFill>
          <a:ln w="25400">
            <a:solidFill>
              <a:srgbClr val="10B981"/>
            </a:solidFill>
            <a:prstDash val="solid"/>
          </a:ln>
        </p:spPr>
      </p:sp>
      <p:sp>
        <p:nvSpPr>
          <p:cNvPr id="7" name="Text 5"/>
          <p:cNvSpPr/>
          <p:nvPr/>
        </p:nvSpPr>
        <p:spPr>
          <a:xfrm>
            <a:off x="1280160" y="4983480"/>
            <a:ext cx="9601200" cy="548640"/>
          </a:xfrm>
          <a:prstGeom prst="rect">
            <a:avLst/>
          </a:prstGeom>
          <a:noFill/>
          <a:ln/>
        </p:spPr>
        <p:txBody>
          <a:bodyPr wrap="square" rtlCol="0" anchor="ctr"/>
          <a:lstStyle/>
          <a:p>
            <a:pPr marL="0" indent="0" algn="ctr">
              <a:buNone/>
            </a:pPr>
            <a:r>
              <a:rPr lang="en-US" sz="2200" b="1" dirty="0">
                <a:solidFill>
                  <a:srgbClr val="10B981"/>
                </a:solidFill>
                <a:latin typeface="Arial" pitchFamily="34" charset="0"/>
                <a:ea typeface="Arial" pitchFamily="34" charset="-122"/>
                <a:cs typeface="Arial" pitchFamily="34" charset="-120"/>
              </a:rPr>
              <a:t>“From Sales Data to Smarter Retail Decisions.”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30E"/>
        </a:solidFill>
        <a:effectLst/>
      </p:bgPr>
    </p:bg>
    <p:spTree>
      <p:nvGrpSpPr>
        <p:cNvPr id="1" name=""/>
        <p:cNvGrpSpPr/>
        <p:nvPr/>
      </p:nvGrpSpPr>
      <p:grpSpPr>
        <a:xfrm>
          <a:off x="0" y="0"/>
          <a:ext cx="0" cy="0"/>
          <a:chOff x="0" y="0"/>
          <a:chExt cx="0" cy="0"/>
        </a:xfrm>
      </p:grpSpPr>
      <p:sp>
        <p:nvSpPr>
          <p:cNvPr id="2" name="Shape 0"/>
          <p:cNvSpPr/>
          <p:nvPr/>
        </p:nvSpPr>
        <p:spPr>
          <a:xfrm>
            <a:off x="731520" y="529978"/>
            <a:ext cx="10698480" cy="5760720"/>
          </a:xfrm>
          <a:prstGeom prst="rect">
            <a:avLst/>
          </a:prstGeom>
          <a:solidFill>
            <a:srgbClr val="051F14"/>
          </a:solidFill>
          <a:ln w="12700">
            <a:solidFill>
              <a:srgbClr val="10B981"/>
            </a:solidFill>
            <a:prstDash val="solid"/>
          </a:ln>
        </p:spPr>
      </p:sp>
      <p:sp>
        <p:nvSpPr>
          <p:cNvPr id="3" name="Text 1"/>
          <p:cNvSpPr/>
          <p:nvPr/>
        </p:nvSpPr>
        <p:spPr>
          <a:xfrm>
            <a:off x="1097280" y="1554480"/>
            <a:ext cx="9601200" cy="82296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MARKETPULSE</a:t>
            </a:r>
            <a:endParaRPr lang="en-US" sz="4400" dirty="0"/>
          </a:p>
        </p:txBody>
      </p:sp>
      <p:sp>
        <p:nvSpPr>
          <p:cNvPr id="4" name="Text 2"/>
          <p:cNvSpPr/>
          <p:nvPr/>
        </p:nvSpPr>
        <p:spPr>
          <a:xfrm>
            <a:off x="1097280" y="2377440"/>
            <a:ext cx="9601200" cy="457200"/>
          </a:xfrm>
          <a:prstGeom prst="rect">
            <a:avLst/>
          </a:prstGeom>
          <a:noFill/>
          <a:ln/>
        </p:spPr>
        <p:txBody>
          <a:bodyPr wrap="square" rtlCol="0" anchor="ctr"/>
          <a:lstStyle/>
          <a:p>
            <a:pPr marL="0" indent="0" algn="ctr">
              <a:buNone/>
            </a:pPr>
            <a:r>
              <a:rPr lang="en-US" sz="1800" i="1" dirty="0">
                <a:solidFill>
                  <a:srgbClr val="A7F3D0"/>
                </a:solidFill>
                <a:latin typeface="Arial" pitchFamily="34" charset="0"/>
                <a:ea typeface="Arial" pitchFamily="34" charset="-122"/>
                <a:cs typeface="Arial" pitchFamily="34" charset="-120"/>
              </a:rPr>
              <a:t>Turning Retail Data into Actionable Insights</a:t>
            </a:r>
            <a:endParaRPr lang="en-US" sz="1800" dirty="0"/>
          </a:p>
        </p:txBody>
      </p:sp>
      <p:sp>
        <p:nvSpPr>
          <p:cNvPr id="5" name="Shape 3"/>
          <p:cNvSpPr/>
          <p:nvPr/>
        </p:nvSpPr>
        <p:spPr>
          <a:xfrm>
            <a:off x="4023360" y="3017520"/>
            <a:ext cx="4114800" cy="0"/>
          </a:xfrm>
          <a:prstGeom prst="line">
            <a:avLst/>
          </a:prstGeom>
          <a:noFill/>
          <a:ln w="25400">
            <a:solidFill>
              <a:srgbClr val="10B981"/>
            </a:solidFill>
            <a:prstDash val="solid"/>
          </a:ln>
        </p:spPr>
      </p:sp>
      <p:sp>
        <p:nvSpPr>
          <p:cNvPr id="6" name="Text 4"/>
          <p:cNvSpPr/>
          <p:nvPr/>
        </p:nvSpPr>
        <p:spPr>
          <a:xfrm>
            <a:off x="1097280" y="3383280"/>
            <a:ext cx="9601200" cy="2011680"/>
          </a:xfrm>
          <a:prstGeom prst="rect">
            <a:avLst/>
          </a:prstGeom>
          <a:noFill/>
          <a:ln/>
        </p:spPr>
        <p:txBody>
          <a:bodyPr wrap="square" rtlCol="0" anchor="ctr"/>
          <a:lstStyle/>
          <a:p>
            <a:pPr algn="ctr"/>
            <a:r>
              <a:rPr lang="en-US" sz="1400" b="1" dirty="0">
                <a:solidFill>
                  <a:srgbClr val="FFFFFF"/>
                </a:solidFill>
                <a:latin typeface="Arial" pitchFamily="34" charset="0"/>
                <a:ea typeface="Arial" pitchFamily="34" charset="-122"/>
                <a:cs typeface="Arial" pitchFamily="34" charset="-120"/>
              </a:rPr>
              <a:t>Thank you for your time.
</a:t>
            </a:r>
            <a:r>
              <a:rPr lang="en-US" sz="1400" b="1" dirty="0">
                <a:solidFill>
                  <a:schemeClr val="bg1"/>
                </a:solidFill>
                <a:latin typeface="Arial" pitchFamily="34" charset="0"/>
                <a:ea typeface="Arial" pitchFamily="34" charset="-122"/>
                <a:cs typeface="Arial" pitchFamily="34" charset="-120"/>
              </a:rPr>
              <a:t>
</a:t>
            </a:r>
            <a:r>
              <a:rPr lang="en-US" sz="1100" dirty="0">
                <a:solidFill>
                  <a:schemeClr val="bg1"/>
                </a:solidFill>
                <a:latin typeface="Arial" pitchFamily="34" charset="0"/>
                <a:ea typeface="Arial" pitchFamily="34" charset="-122"/>
                <a:cs typeface="Arial" pitchFamily="34" charset="-120"/>
              </a:rPr>
              <a:t>Project Analyst: Retail Analytics Specialist
</a:t>
            </a:r>
            <a:r>
              <a:rPr lang="en-US" sz="1000" dirty="0">
                <a:solidFill>
                  <a:schemeClr val="bg1"/>
                </a:solidFill>
                <a:latin typeface="Arial" pitchFamily="34" charset="0"/>
                <a:ea typeface="Arial" pitchFamily="34" charset="-122"/>
                <a:cs typeface="Arial" pitchFamily="34" charset="-120"/>
              </a:rPr>
              <a:t>Project: </a:t>
            </a:r>
            <a:r>
              <a:rPr lang="en-US" sz="1000" b="1" dirty="0">
                <a:solidFill>
                  <a:schemeClr val="bg1"/>
                </a:solidFill>
                <a:latin typeface="Arial" pitchFamily="34" charset="0"/>
                <a:ea typeface="Arial" pitchFamily="34" charset="-122"/>
                <a:cs typeface="Arial" pitchFamily="34" charset="-120"/>
              </a:rPr>
              <a:t>MARKETPULS</a:t>
            </a:r>
            <a:r>
              <a:rPr lang="en-US" sz="1000" b="1" dirty="0">
                <a:solidFill>
                  <a:srgbClr val="FFFFFF"/>
                </a:solidFill>
                <a:latin typeface="Arial" pitchFamily="34" charset="0"/>
                <a:ea typeface="Arial" pitchFamily="34" charset="-122"/>
                <a:cs typeface="Arial" pitchFamily="34" charset="-120"/>
              </a:rPr>
              <a:t>E</a:t>
            </a:r>
            <a:r>
              <a:rPr lang="en-US" sz="1000" dirty="0">
                <a:solidFill>
                  <a:srgbClr val="94A3B8"/>
                </a:solidFill>
                <a:latin typeface="Arial" pitchFamily="34" charset="0"/>
                <a:ea typeface="Arial" pitchFamily="34" charset="-122"/>
                <a:cs typeface="Arial" pitchFamily="34" charset="-120"/>
              </a:rPr>
              <a:t> </a:t>
            </a:r>
            <a:r>
              <a:rPr lang="en-US" sz="1000" dirty="0">
                <a:solidFill>
                  <a:schemeClr val="bg1"/>
                </a:solidFill>
                <a:latin typeface="Arial" pitchFamily="34" charset="0"/>
                <a:cs typeface="Arial" pitchFamily="34" charset="-120"/>
              </a:rPr>
              <a:t>Sales</a:t>
            </a:r>
            <a:r>
              <a:rPr lang="en-US" sz="1000" dirty="0">
                <a:solidFill>
                  <a:schemeClr val="bg1"/>
                </a:solidFill>
                <a:latin typeface="Arial" pitchFamily="34" charset="0"/>
                <a:ea typeface="Arial" pitchFamily="34" charset="-122"/>
                <a:cs typeface="Arial" pitchFamily="34" charset="-120"/>
              </a:rPr>
              <a:t> &amp; Business Intelligence  |  Excel Analytics Portfolio</a:t>
            </a:r>
            <a:r>
              <a:rPr lang="en-US" sz="1000" dirty="0">
                <a:solidFill>
                  <a:srgbClr val="94A3B8"/>
                </a:solidFill>
                <a:latin typeface="Arial" pitchFamily="34" charset="0"/>
                <a:ea typeface="Arial" pitchFamily="34" charset="-122"/>
                <a:cs typeface="Arial" pitchFamily="34" charset="-120"/>
              </a:rPr>
              <a:t>
</a:t>
            </a:r>
            <a:r>
              <a:rPr lang="en-US" sz="1000" dirty="0">
                <a:solidFill>
                  <a:srgbClr val="A7F3D0"/>
                </a:solidFill>
                <a:latin typeface="Arial" pitchFamily="34" charset="0"/>
                <a:ea typeface="Arial" pitchFamily="34" charset="-122"/>
                <a:cs typeface="Arial" pitchFamily="34" charset="-120"/>
              </a:rPr>
              <a:t>Ready for Q&amp;A, Pivot Model Walkthrough &amp; Empirical Data Verification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3388</Words>
  <Application>Microsoft Office PowerPoint</Application>
  <PresentationFormat>Widescreen</PresentationFormat>
  <Paragraphs>251</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MARKETPULSE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MARKETPULSE | Supermarket Sales &amp; Business Intelligence</dc:title>
  <dc:subject>Excel Retail Sales Analytics &amp; Executive Decision Deck</dc:subject>
  <dc:creator>Retail Analytics Specialist</dc:creator>
  <cp:lastModifiedBy>Tummala Meghana</cp:lastModifiedBy>
  <cp:revision>2</cp:revision>
  <dcterms:created xsi:type="dcterms:W3CDTF">2026-10-16T16:29:50Z</dcterms:created>
  <dcterms:modified xsi:type="dcterms:W3CDTF">2026-10-16T16:36:45Z</dcterms:modified>
</cp:coreProperties>
</file>